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European IVD Market Entry Strategy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Strategic Insights for Chinese Diagnostic Companies</a:t>
            </a:r>
          </a:p>
          <a:p>
            <a:r>
              <a:t>Comprehensive Market Analysis &amp; Regulatory Landscape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• European IVD market presents high-value opportunity with €1.65T healthcare expenditure</a:t>
            </a:r>
          </a:p>
          <a:p>
            <a:pPr>
              <a:defRPr sz="1600">
                <a:latin typeface="Arial"/>
              </a:defRPr>
            </a:pPr>
            <a:r>
              <a:t>• Chinese suppliers face significant regulatory barriers with IVDR transition extending to 2027-2028</a:t>
            </a:r>
          </a:p>
          <a:p>
            <a:pPr>
              <a:defRPr sz="1600">
                <a:latin typeface="Arial"/>
              </a:defRPr>
            </a:pPr>
            <a:r>
              <a:t>• Geopolitical challenges: EU restricts Chinese participation in tenders over €5M</a:t>
            </a:r>
          </a:p>
          <a:p>
            <a:pPr>
              <a:defRPr sz="1600">
                <a:latin typeface="Arial"/>
              </a:defRPr>
            </a:pPr>
            <a:r>
              <a:t>• Strategic acquisitions critical for market entry (e.g., Mindray's DiaSys &amp; HyTest acquisitions)</a:t>
            </a:r>
          </a:p>
          <a:p>
            <a:pPr>
              <a:defRPr sz="1600">
                <a:latin typeface="Arial"/>
              </a:defRPr>
            </a:pPr>
            <a:r>
              <a:t>• Cost-effectiveness drives adoption but trust deficit remains in high-end segments</a:t>
            </a:r>
          </a:p>
          <a:p>
            <a:pPr>
              <a:defRPr sz="1600">
                <a:latin typeface="Arial"/>
              </a:defRPr>
            </a:pPr>
            <a:r>
              <a:t>• Market shifting from export economics to deep localization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[2] https://ec.europa.eu/commission/presscorner/detail/en/ip_25_1569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Market Overview &amp; Key Metrics</a:t>
            </a:r>
          </a:p>
          <a:p>
            <a:pPr>
              <a:defRPr sz="1600">
                <a:latin typeface="Arial"/>
              </a:defRPr>
            </a:pPr>
            <a:r>
              <a:t>Regulatory Landscape Analysis</a:t>
            </a:r>
          </a:p>
          <a:p>
            <a:pPr>
              <a:defRPr sz="1600">
                <a:latin typeface="Arial"/>
              </a:defRPr>
            </a:pPr>
            <a:r>
              <a:t>Competitive Intelligence</a:t>
            </a:r>
          </a:p>
          <a:p>
            <a:pPr>
              <a:defRPr sz="1600">
                <a:latin typeface="Arial"/>
              </a:defRPr>
            </a:pPr>
            <a:r>
              <a:t>Market Access &amp; Reimbursement</a:t>
            </a:r>
          </a:p>
          <a:p>
            <a:pPr>
              <a:defRPr sz="1600">
                <a:latin typeface="Arial"/>
              </a:defRPr>
            </a:pPr>
            <a:r>
              <a:t>Budget Environment &amp; Spending</a:t>
            </a:r>
          </a:p>
          <a:p>
            <a:pPr>
              <a:defRPr sz="1600">
                <a:latin typeface="Arial"/>
              </a:defRPr>
            </a:pPr>
            <a:r>
              <a:t>Customer Receptivity Trends</a:t>
            </a:r>
          </a:p>
          <a:p>
            <a:pPr>
              <a:defRPr sz="1600">
                <a:latin typeface="Arial"/>
              </a:defRPr>
            </a:pPr>
            <a:r>
              <a:t>Strategic Opportunities</a:t>
            </a:r>
          </a:p>
          <a:p>
            <a:pPr>
              <a:defRPr sz="1600">
                <a:latin typeface="Arial"/>
              </a:defRPr>
            </a:pPr>
            <a:r>
              <a:t>Risk Assessment</a:t>
            </a:r>
          </a:p>
          <a:p>
            <a:pPr>
              <a:defRPr sz="1600">
                <a:latin typeface="Arial"/>
              </a:defRPr>
            </a:pPr>
            <a:r>
              <a:t>Key Recommendations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Overview: European IVD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• Total Healthcare Expenditure: €1.65 trillion (3,685 Euros per capita)</a:t>
            </a:r>
          </a:p>
          <a:p>
            <a:pPr>
              <a:defRPr sz="1600">
                <a:latin typeface="Arial"/>
              </a:defRPr>
            </a:pPr>
            <a:r>
              <a:t>• Government &amp; mandatory insurance funding: &gt;60% of total spending</a:t>
            </a:r>
          </a:p>
          <a:p>
            <a:pPr>
              <a:defRPr sz="1600">
                <a:latin typeface="Arial"/>
              </a:defRPr>
            </a:pPr>
            <a:r>
              <a:t>• Pricing system driven by public health insurance with strategic negotiations</a:t>
            </a:r>
          </a:p>
          <a:p>
            <a:pPr>
              <a:defRPr sz="1600">
                <a:latin typeface="Arial"/>
              </a:defRPr>
            </a:pPr>
            <a:r>
              <a:t>• Tiered reimbursement structure using DRG-based payment system</a:t>
            </a:r>
          </a:p>
          <a:p>
            <a:pPr>
              <a:defRPr sz="1600">
                <a:latin typeface="Arial"/>
              </a:defRPr>
            </a:pPr>
            <a:r>
              <a:t>• Additional mechanisms for innovative technologies at supplementary level</a:t>
            </a:r>
          </a:p>
          <a:p>
            <a:pPr>
              <a:defRPr sz="1600">
                <a:latin typeface="Arial"/>
              </a:defRPr>
            </a:pPr>
            <a:r>
              <a:t>• Public tender rules and long-term cost control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Regulatory Landscape: IVDR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Key Regulatory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[8] https://en.caclp.com/industry-news/1160.html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Landscape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828800"/>
            <a:ext cx="4572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28800"/>
            <a:ext cx="2286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Market Dominance: Roche, Siemens, Abbott control ~58% of market</a:t>
            </a:r>
          </a:p>
          <a:p>
            <a:pPr>
              <a:defRPr sz="1200"/>
            </a:pPr>
            <a:r>
              <a:t>Chinese Players: Mindray (8%), Snibe (5%) gaining traction</a:t>
            </a:r>
          </a:p>
          <a:p>
            <a:pPr>
              <a:defRPr sz="1200"/>
            </a:pPr>
            <a:r>
              <a:t>Mindray: 3,914 global registrations (3,158 overseas)</a:t>
            </a:r>
          </a:p>
          <a:p>
            <a:pPr>
              <a:defRPr sz="1200"/>
            </a:pPr>
            <a:r>
              <a:t>Snibe: 1,493 global registration certificates</a:t>
            </a:r>
          </a:p>
          <a:p>
            <a:pPr>
              <a:defRPr sz="1200"/>
            </a:pPr>
            <a:r>
              <a:t>Strategic Acquisitions: Mindray acquired DiaSys (Germany) and HyTest (Finland)</a:t>
            </a:r>
          </a:p>
          <a:p>
            <a:pPr>
              <a:defRPr sz="1200"/>
            </a:pPr>
            <a:r>
              <a:t>R&amp;D Investment: Mindray allocated 10.99% of revenue to medical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[4] https://en.caclp.com/industry-news/2365.html</a:t>
            </a:r>
          </a:p>
          <a:p>
            <a:pPr>
              <a:defRPr sz="1000" i="1"/>
            </a:pPr>
            <a:r>
              <a:t>[9] https://en.caclp.com/industry-news/3349.html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Access &amp; Reimbursement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Factor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Public Tender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Restricted (&gt;€5M)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 Barrier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Input Sourcing Limit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Max 50% Chinese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Supply Chain Risk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Reimbursement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DRG-Based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Value Demonstration Required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Pricing Negotiations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Government-led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Price Pressure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Innovative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Supplementary Funding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Opportunity for Premium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572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/>
            </a:pPr>
            <a:r>
              <a:t>• EU excludes Chinese companies from government purchases &gt;€5M</a:t>
            </a:r>
          </a:p>
          <a:p>
            <a:pPr>
              <a:defRPr sz="1400"/>
            </a:pPr>
            <a:r>
              <a:t>• 50% maximum Chinese inputs for successful bids</a:t>
            </a:r>
          </a:p>
          <a:p>
            <a:pPr>
              <a:defRPr sz="1400"/>
            </a:pPr>
            <a:r>
              <a:t>• Exceptions where no alternative suppliers exist</a:t>
            </a:r>
          </a:p>
          <a:p>
            <a:pPr>
              <a:defRPr sz="1400"/>
            </a:pPr>
            <a:r>
              <a:t>• Reimbursement requires proving clinical value</a:t>
            </a:r>
          </a:p>
          <a:p>
            <a:pPr>
              <a:defRPr sz="1400"/>
            </a:pPr>
            <a:r>
              <a:t>• Public health insurance drives pricing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[2] https://ec.europa.eu/commission/presscorner/detail/en/ip_25_1569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Environment &amp; Spending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Healthcare Budget Structure:</a:t>
            </a:r>
          </a:p>
          <a:p>
            <a:pPr>
              <a:defRPr sz="1600">
                <a:latin typeface="Arial"/>
              </a:defRPr>
            </a:pPr>
            <a:r>
              <a:t>  • Government funding: Primary source</a:t>
            </a:r>
          </a:p>
          <a:p>
            <a:pPr>
              <a:defRPr sz="1600">
                <a:latin typeface="Arial"/>
              </a:defRPr>
            </a:pPr>
            <a:r>
              <a:t>  • Mandatory insurance: Significant contributor</a:t>
            </a:r>
          </a:p>
          <a:p>
            <a:pPr>
              <a:defRPr sz="1600">
                <a:latin typeface="Arial"/>
              </a:defRPr>
            </a:pPr>
            <a:r>
              <a:t>  • Private spending: Limited role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Budget Allocation Trends:</a:t>
            </a:r>
          </a:p>
          <a:p>
            <a:pPr>
              <a:defRPr sz="1600">
                <a:latin typeface="Arial"/>
              </a:defRPr>
            </a:pPr>
            <a:r>
              <a:t>  • Large-scale tenders: &gt;€5M (restricted)</a:t>
            </a:r>
          </a:p>
          <a:p>
            <a:pPr>
              <a:defRPr sz="1600">
                <a:latin typeface="Arial"/>
              </a:defRPr>
            </a:pPr>
            <a:r>
              <a:t>  • Smaller contracts: &lt;€5M (accessible)</a:t>
            </a:r>
          </a:p>
          <a:p>
            <a:pPr>
              <a:defRPr sz="1600">
                <a:latin typeface="Arial"/>
              </a:defRPr>
            </a:pPr>
            <a:r>
              <a:t>  • Centralized procurement: Major budget pools</a:t>
            </a:r>
          </a:p>
          <a:p>
            <a:pPr>
              <a:defRPr sz="1600">
                <a:latin typeface="Arial"/>
              </a:defRPr>
            </a:pPr>
            <a:r>
              <a:t>  • Decentralized purchasing: Smaller opportunities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Spending Priorities:</a:t>
            </a:r>
          </a:p>
          <a:p>
            <a:pPr>
              <a:defRPr sz="1600">
                <a:latin typeface="Arial"/>
              </a:defRPr>
            </a:pPr>
            <a:r>
              <a:t>  • Cost control: Primary focus</a:t>
            </a:r>
          </a:p>
          <a:p>
            <a:pPr>
              <a:defRPr sz="1600">
                <a:latin typeface="Arial"/>
              </a:defRPr>
            </a:pPr>
            <a:r>
              <a:t>  • Innovative technologies: Supplementary funding</a:t>
            </a:r>
          </a:p>
          <a:p>
            <a:pPr>
              <a:defRPr sz="1600">
                <a:latin typeface="Arial"/>
              </a:defRPr>
            </a:pPr>
            <a:r>
              <a:t>  • Long-term value: Key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[2] https://ec.europa.eu/commission/presscorner/detail/en/ip_25_1569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Receptivity &amp; Adoption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Receptivity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Factors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Chinese Position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Brand Trust, 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Challenged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Mid-Tier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Price,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Competitive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Low-End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Cost-Effectiveness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Growing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Convenience,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Emerging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Emerging 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Selective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Innovation, 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Developing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/>
            </a:pPr>
            <a:r>
              <a:t>• Chinese exports to EU doubled 2015-2023 indicating historical adoption</a:t>
            </a:r>
          </a:p>
          <a:p>
            <a:pPr>
              <a:defRPr sz="1400"/>
            </a:pPr>
            <a:r>
              <a:t>• Strong price competitiveness in low-to-mid tier segments</a:t>
            </a:r>
          </a:p>
          <a:p>
            <a:pPr>
              <a:defRPr sz="1400"/>
            </a:pPr>
            <a:r>
              <a:t>• Trust deficit in high-end products versus Western incumbents</a:t>
            </a:r>
          </a:p>
          <a:p>
            <a:pPr>
              <a:defRPr sz="1400"/>
            </a:pPr>
            <a:r>
              <a:t>• Snibe sold 3,637 units abroad vs 1,141 domestic (2022)</a:t>
            </a:r>
          </a:p>
          <a:p>
            <a:pPr>
              <a:defRPr sz="1400"/>
            </a:pPr>
            <a:r>
              <a:t>• Local service capabilities critical for customer satisfaction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[4] https://en.caclp.com/industry-news/2365.html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Market Entry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Acquisition Strategy:</a:t>
            </a:r>
          </a:p>
          <a:p>
            <a:pPr>
              <a:defRPr sz="1600">
                <a:latin typeface="Arial"/>
              </a:defRPr>
            </a:pPr>
            <a:r>
              <a:t>  • Mindray: Acquired DiaSys (Germany) for distribution</a:t>
            </a:r>
          </a:p>
          <a:p>
            <a:pPr>
              <a:defRPr sz="1600">
                <a:latin typeface="Arial"/>
              </a:defRPr>
            </a:pPr>
            <a:r>
              <a:t>  • Mindray: Acquired HyTest (Finland) for raw materials</a:t>
            </a:r>
          </a:p>
          <a:p>
            <a:pPr>
              <a:defRPr sz="1600">
                <a:latin typeface="Arial"/>
              </a:defRPr>
            </a:pPr>
            <a:r>
              <a:t>  • Build local service capabilities and credibility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Regulatory Gateway Approach:</a:t>
            </a:r>
          </a:p>
          <a:p>
            <a:pPr>
              <a:defRPr sz="1600">
                <a:latin typeface="Arial"/>
              </a:defRPr>
            </a:pPr>
            <a:r>
              <a:t>  • Eastern Europe: Hungary, Greece as EU entry points</a:t>
            </a:r>
          </a:p>
          <a:p>
            <a:pPr>
              <a:defRPr sz="1600">
                <a:latin typeface="Arial"/>
              </a:defRPr>
            </a:pPr>
            <a:r>
              <a:t>  • Strict markets: Germany, Netherlands for credibility</a:t>
            </a:r>
          </a:p>
          <a:p>
            <a:pPr>
              <a:defRPr sz="1600">
                <a:latin typeface="Arial"/>
              </a:defRPr>
            </a:pPr>
            <a:r>
              <a:t>  • IVDR certification as market access prerequisite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Product Segmentation:</a:t>
            </a:r>
          </a:p>
          <a:p>
            <a:pPr>
              <a:defRPr sz="1600">
                <a:latin typeface="Arial"/>
              </a:defRPr>
            </a:pPr>
            <a:r>
              <a:t>  • Target small-to-mid labs with compact solutions</a:t>
            </a:r>
          </a:p>
          <a:p>
            <a:pPr>
              <a:defRPr sz="1600">
                <a:latin typeface="Arial"/>
              </a:defRPr>
            </a:pPr>
            <a:r>
              <a:t>  • Focus on cost-effective segments initially</a:t>
            </a:r>
          </a:p>
          <a:p>
            <a:pPr>
              <a:defRPr sz="1600">
                <a:latin typeface="Arial"/>
              </a:defRPr>
            </a:pPr>
            <a:r>
              <a:t>  • Gradually move up value chain with proven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[9] https://en.caclp.com/industry-news/3349.html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Capability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2023 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YoY Growth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R&amp;D Investment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Overseas Growth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Mindray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CNY 34.93B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20%+ (6 years)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10.99% of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30%+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Snibe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CNY 1.021B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16.62%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Not specified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Autobio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Not specified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Dirui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CNY 663M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99.60%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Not specified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Not specified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/>
            </a:pPr>
            <a:r>
              <a:t>Key Financial Trends:</a:t>
            </a:r>
          </a:p>
          <a:p>
            <a:pPr>
              <a:defRPr sz="1400"/>
            </a:pPr>
            <a:r>
              <a:t>• Post-COVID market correction: 53.26% revenue drop industry-wide</a:t>
            </a:r>
          </a:p>
          <a:p>
            <a:pPr>
              <a:defRPr sz="1400"/>
            </a:pPr>
            <a:r>
              <a:t>• Top players maintained growth despite market challenges</a:t>
            </a:r>
          </a:p>
          <a:p>
            <a:pPr>
              <a:defRPr sz="1400"/>
            </a:pPr>
            <a:r>
              <a:t>• Strong R&amp;D investment positioning for innovation competition</a:t>
            </a:r>
          </a:p>
          <a:p>
            <a:pPr>
              <a:defRPr sz="1400"/>
            </a:pPr>
            <a:r>
              <a:t>• Overseas revenue growth outpacing domestic performance</a:t>
            </a:r>
          </a:p>
          <a:p>
            <a:pPr>
              <a:defRPr sz="1400"/>
            </a:pPr>
            <a:r>
              <a:t>• Financial capacity for strategic acquisitions and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[5] https://en.caclp.com/industry-news/2785.html</a:t>
            </a:r>
          </a:p>
          <a:p>
            <a:pPr>
              <a:defRPr sz="1000" i="1"/>
            </a:pPr>
            <a:r>
              <a:t>[6] https://en.caclp.com/industry-news/2808.html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Risk 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Likelihood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Mitigation Strategy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Regulatory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Early IVDR compliance, local expertise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Geopolitical Tensions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Diversification, local manufacturing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Supply Chain Disruption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Local sourcing, multiple suppliers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Brand 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Acquisitions, quality evidence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Price Competition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Differentiation, value demonstration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Currency Fluctuation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Arial"/>
                        </a:defRPr>
                      </a:pPr>
                      <a:r>
                        <a:t>Hedging, local operations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[2] https://ec.europa.eu/commission/presscorner/detail/en/ip_25_1569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1. Regulatory First Approach:</a:t>
            </a:r>
          </a:p>
          <a:p>
            <a:pPr>
              <a:defRPr sz="1600">
                <a:latin typeface="Arial"/>
              </a:defRPr>
            </a:pPr>
            <a:r>
              <a:t>   • Prioritize full IVDR compliance across product portfolio</a:t>
            </a:r>
          </a:p>
          <a:p>
            <a:pPr>
              <a:defRPr sz="1600">
                <a:latin typeface="Arial"/>
              </a:defRPr>
            </a:pPr>
            <a:r>
              <a:t>   • Establish European regulatory affairs capability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2. Localization Strategy:</a:t>
            </a:r>
          </a:p>
          <a:p>
            <a:pPr>
              <a:defRPr sz="1600">
                <a:latin typeface="Arial"/>
              </a:defRPr>
            </a:pPr>
            <a:r>
              <a:t>   • Consider local manufacturing to overcome input restrictions</a:t>
            </a:r>
          </a:p>
          <a:p>
            <a:pPr>
              <a:defRPr sz="1600">
                <a:latin typeface="Arial"/>
              </a:defRPr>
            </a:pPr>
            <a:r>
              <a:t>   • Build local service and support networks</a:t>
            </a:r>
          </a:p>
          <a:p>
            <a:pPr>
              <a:defRPr sz="1600">
                <a:latin typeface="Arial"/>
              </a:defRPr>
            </a:pPr>
            <a:r>
              <a:t>   • Acquire European companies for market access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3. Market Segmentation:</a:t>
            </a:r>
          </a:p>
          <a:p>
            <a:pPr>
              <a:defRPr sz="1600">
                <a:latin typeface="Arial"/>
              </a:defRPr>
            </a:pPr>
            <a:r>
              <a:t>   • Target smaller contracts (&lt;€5M) initially</a:t>
            </a:r>
          </a:p>
          <a:p>
            <a:pPr>
              <a:defRPr sz="1600">
                <a:latin typeface="Arial"/>
              </a:defRPr>
            </a:pPr>
            <a:r>
              <a:t>   • Focus on cost-sensitive segments with proven value</a:t>
            </a:r>
          </a:p>
          <a:p>
            <a:pPr>
              <a:defRPr sz="1600">
                <a:latin typeface="Arial"/>
              </a:defRPr>
            </a:pPr>
            <a:r>
              <a:t>   • Gradually build credibility for high-end offerings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4. Partnership Development:</a:t>
            </a:r>
          </a:p>
          <a:p>
            <a:pPr>
              <a:defRPr sz="1600">
                <a:latin typeface="Arial"/>
              </a:defRPr>
            </a:pPr>
            <a:r>
              <a:t>   • Collaborate with European distributors</a:t>
            </a:r>
          </a:p>
          <a:p>
            <a:pPr>
              <a:defRPr sz="1600">
                <a:latin typeface="Arial"/>
              </a:defRPr>
            </a:pPr>
            <a:r>
              <a:t>   • Establish KOL relationships for credibility</a:t>
            </a:r>
          </a:p>
          <a:p>
            <a:pPr>
              <a:defRPr sz="1600">
                <a:latin typeface="Arial"/>
              </a:defRPr>
            </a:pPr>
            <a:r>
              <a:t>   • Partner with local service providers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Short-Term (0-12 months):</a:t>
            </a:r>
          </a:p>
          <a:p>
            <a:pPr>
              <a:defRPr sz="1600">
                <a:latin typeface="Arial"/>
              </a:defRPr>
            </a:pPr>
            <a:r>
              <a:t>  • Complete IVDR certification for key products</a:t>
            </a:r>
          </a:p>
          <a:p>
            <a:pPr>
              <a:defRPr sz="1600">
                <a:latin typeface="Arial"/>
              </a:defRPr>
            </a:pPr>
            <a:r>
              <a:t>  • Establish European regulatory compliance team</a:t>
            </a:r>
          </a:p>
          <a:p>
            <a:pPr>
              <a:defRPr sz="1600">
                <a:latin typeface="Arial"/>
              </a:defRPr>
            </a:pPr>
            <a:r>
              <a:t>  • Develop distribution partnerships</a:t>
            </a:r>
          </a:p>
          <a:p>
            <a:pPr>
              <a:defRPr sz="1600">
                <a:latin typeface="Arial"/>
              </a:defRPr>
            </a:pPr>
            <a:r>
              <a:t>  • Target Eastern European gateway markets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Medium-Term (12-36 months):</a:t>
            </a:r>
          </a:p>
          <a:p>
            <a:pPr>
              <a:defRPr sz="1600">
                <a:latin typeface="Arial"/>
              </a:defRPr>
            </a:pPr>
            <a:r>
              <a:t>  • Achieve 50+ IVDR certifications</a:t>
            </a:r>
          </a:p>
          <a:p>
            <a:pPr>
              <a:defRPr sz="1600">
                <a:latin typeface="Arial"/>
              </a:defRPr>
            </a:pPr>
            <a:r>
              <a:t>  • Establish local service capabilities</a:t>
            </a:r>
          </a:p>
          <a:p>
            <a:pPr>
              <a:defRPr sz="1600">
                <a:latin typeface="Arial"/>
              </a:defRPr>
            </a:pPr>
            <a:r>
              <a:t>  • Develop country-specific reimbursement strategies</a:t>
            </a:r>
          </a:p>
          <a:p>
            <a:pPr>
              <a:defRPr sz="1600">
                <a:latin typeface="Arial"/>
              </a:defRPr>
            </a:pPr>
            <a:r>
              <a:t>  • Explore acquisition opportunities</a:t>
            </a:r>
          </a:p>
          <a:p>
            <a:pPr>
              <a:defRPr sz="1600">
                <a:latin typeface="Arial"/>
              </a:defRPr>
            </a:pPr>
          </a:p>
          <a:p>
            <a:pPr>
              <a:defRPr sz="1600">
                <a:latin typeface="Arial"/>
              </a:defRPr>
            </a:pPr>
            <a:r>
              <a:t>Long-Term (36+ months):</a:t>
            </a:r>
          </a:p>
          <a:p>
            <a:pPr>
              <a:defRPr sz="1600">
                <a:latin typeface="Arial"/>
              </a:defRPr>
            </a:pPr>
            <a:r>
              <a:t>  • Establish local manufacturing presence</a:t>
            </a:r>
          </a:p>
          <a:p>
            <a:pPr>
              <a:defRPr sz="1600">
                <a:latin typeface="Arial"/>
              </a:defRPr>
            </a:pPr>
            <a:r>
              <a:t>  • Build brand recognition in high-end segments</a:t>
            </a:r>
          </a:p>
          <a:p>
            <a:pPr>
              <a:defRPr sz="1600">
                <a:latin typeface="Arial"/>
              </a:defRPr>
            </a:pPr>
            <a:r>
              <a:t>  • Achieve top 5 market position in selected segments</a:t>
            </a:r>
          </a:p>
          <a:p>
            <a:pPr>
              <a:defRPr sz="1600">
                <a:latin typeface="Arial"/>
              </a:defRPr>
            </a:pPr>
            <a:r>
              <a:t>  • Develop innovative products for European needs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Path to European Success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>
                <a:latin typeface="Arial"/>
              </a:defRPr>
            </a:pPr>
            <a:r>
              <a:t>• European IVD market offers significant opportunity but requires strategic approach</a:t>
            </a:r>
          </a:p>
          <a:p>
            <a:pPr>
              <a:defRPr sz="1600">
                <a:latin typeface="Arial"/>
              </a:defRPr>
            </a:pPr>
            <a:r>
              <a:t>• Regulatory compliance (IVDR) is non-negotiable foundation for market entry</a:t>
            </a:r>
          </a:p>
          <a:p>
            <a:pPr>
              <a:defRPr sz="1600">
                <a:latin typeface="Arial"/>
              </a:defRPr>
            </a:pPr>
            <a:r>
              <a:t>• Geopolitical constraints necessitate localization and partnership strategies</a:t>
            </a:r>
          </a:p>
          <a:p>
            <a:pPr>
              <a:defRPr sz="1600">
                <a:latin typeface="Arial"/>
              </a:defRPr>
            </a:pPr>
            <a:r>
              <a:t>• Cost-effectiveness provides competitive advantage in value segments</a:t>
            </a:r>
          </a:p>
          <a:p>
            <a:pPr>
              <a:defRPr sz="1600">
                <a:latin typeface="Arial"/>
              </a:defRPr>
            </a:pPr>
            <a:r>
              <a:t>• Acquisition strategy proven effective for rapid market access</a:t>
            </a:r>
          </a:p>
          <a:p>
            <a:pPr>
              <a:defRPr sz="1600">
                <a:latin typeface="Arial"/>
              </a:defRPr>
            </a:pPr>
            <a:r>
              <a:t>• Long-term success requires transition from exporter to local partner</a:t>
            </a:r>
          </a:p>
          <a:p>
            <a:pPr>
              <a:defRPr sz="1600">
                <a:latin typeface="Arial"/>
              </a:defRPr>
            </a:pPr>
            <a:r>
              <a:t>• Companies with strong financials and regulatory readiness best positioned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000" b="1" i="1"/>
            </a:pPr>
            <a:r>
              <a:t>References:</a:t>
            </a:r>
          </a:p>
          <a:p>
            <a:pPr>
              <a:defRPr sz="1000" i="1"/>
            </a:pPr>
            <a:r>
              <a:t>[1] https://drive.google.com/file/d/1zt3vNjOlugypsvPkywduyWNRPGTHrsoj/view?usp=drive_link</a:t>
            </a:r>
          </a:p>
          <a:p>
            <a:pPr>
              <a:defRPr sz="1000" i="1"/>
            </a:pPr>
            <a:r>
              <a:t>[4] https://en.caclp.com/industry-news/2365.html</a:t>
            </a:r>
          </a:p>
          <a:p>
            <a:pPr>
              <a:defRPr sz="1000" i="1"/>
            </a:pPr>
            <a:r>
              <a:t>[9] https://en.caclp.com/industry-news/3349.html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
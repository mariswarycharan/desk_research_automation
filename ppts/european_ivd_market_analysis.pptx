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European IVD Market Analysis: Chinese Supplier Expansion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Research Presentation</a:t>
            </a:r>
          </a:p>
          <a:p>
            <a:r>
              <a:t>Client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European IVD market represents high-value opportunity with €1.65T healthcare expenditure</a:t>
            </a:r>
          </a:p>
          <a:p>
            <a:pPr>
              <a:defRPr sz="1600"/>
            </a:pPr>
            <a:r>
              <a:t>Chinese suppliers face significant regulatory barriers with IVDR transition extending certification by 6-12 months</a:t>
            </a:r>
          </a:p>
          <a:p>
            <a:pPr>
              <a:defRPr sz="1600"/>
            </a:pPr>
            <a:r>
              <a:t>Geopolitical factors creating new challenges with EU restricting Chinese participation in contracts &gt;€5M</a:t>
            </a:r>
          </a:p>
          <a:p>
            <a:pPr>
              <a:defRPr sz="1600"/>
            </a:pPr>
            <a:r>
              <a:t>Leading Chinese companies (Mindray, Snibe, Autobio) achieving IVDR certification and showing strong overseas growth</a:t>
            </a:r>
          </a:p>
          <a:p>
            <a:pPr>
              <a:defRPr sz="1600"/>
            </a:pPr>
            <a:r>
              <a:t>Strategic acquisitions (Mindray/DiaSys, Mindray/HyTest) key to overcoming trust deficit and supply chain risks</a:t>
            </a:r>
          </a:p>
          <a:p>
            <a:pPr>
              <a:defRPr sz="1600"/>
            </a:pPr>
            <a:r>
              <a:t>Cost-effectiveness drives adoption in low-mid segments, but high-end market remains dominated by Western incumbents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https://drive.google.com/file/d/1zt3vNjOlugypsvPkywduyWNRPGTHrsoj/view?usp=drive_link</a:t>
            </a:r>
          </a:p>
          <a:p>
            <a:pPr>
              <a:defRPr sz="900" i="1"/>
            </a:pPr>
            <a:r>
              <a:t>[2] https://ec.europa.eu/commission/presscorner/detail/en/ip_25_1569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Market Overview &amp; Size</a:t>
            </a:r>
          </a:p>
          <a:p>
            <a:pPr>
              <a:defRPr sz="1600"/>
            </a:pPr>
            <a:r>
              <a:t>Key Trends &amp; Developments</a:t>
            </a:r>
          </a:p>
          <a:p>
            <a:pPr>
              <a:defRPr sz="1600"/>
            </a:pPr>
            <a:r>
              <a:t>Competitive Landscape</a:t>
            </a:r>
          </a:p>
          <a:p>
            <a:pPr>
              <a:defRPr sz="1600"/>
            </a:pPr>
            <a:r>
              <a:t>Regulatory Environment</a:t>
            </a:r>
          </a:p>
          <a:p>
            <a:pPr>
              <a:defRPr sz="1600"/>
            </a:pPr>
            <a:r>
              <a:t>Access &amp; Reimbursement</a:t>
            </a:r>
          </a:p>
          <a:p>
            <a:pPr>
              <a:defRPr sz="1600"/>
            </a:pPr>
            <a:r>
              <a:t>Budget &amp; Spend Analysis</a:t>
            </a:r>
          </a:p>
          <a:p>
            <a:pPr>
              <a:defRPr sz="1600"/>
            </a:pPr>
            <a:r>
              <a:t>Customer Receptivity</a:t>
            </a:r>
          </a:p>
          <a:p>
            <a:pPr>
              <a:defRPr sz="1600"/>
            </a:pPr>
            <a:r>
              <a:t>Strategic Opportunities</a:t>
            </a:r>
          </a:p>
          <a:p>
            <a:pPr>
              <a:defRPr sz="1600"/>
            </a:pPr>
            <a:r>
              <a:t>Risks &amp; Challenges</a:t>
            </a:r>
          </a:p>
          <a:p>
            <a:pPr>
              <a:defRPr sz="1600"/>
            </a:pPr>
            <a:r>
              <a:t>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European healthcare expenditure: €1.65 trillion with €3,685 per capita spending</a:t>
            </a:r>
          </a:p>
          <a:p>
            <a:pPr>
              <a:defRPr sz="1600"/>
            </a:pPr>
            <a:r>
              <a:t>Government and mandatory insurance funding represents over 60% of budget structure</a:t>
            </a:r>
          </a:p>
          <a:p>
            <a:pPr>
              <a:defRPr sz="1600"/>
            </a:pPr>
            <a:r>
              <a:t>Market transitioning from COVID-era volumes back to traditional non-COVID business</a:t>
            </a:r>
          </a:p>
          <a:p>
            <a:pPr>
              <a:defRPr sz="1600"/>
            </a:pPr>
            <a:r>
              <a:t>Chinese IVD sector showing contraction with total revenue dropping 53.26% in 2023</a:t>
            </a:r>
          </a:p>
          <a:p>
            <a:pPr>
              <a:defRPr sz="1600"/>
            </a:pPr>
            <a:r>
              <a:t>Long-term demand drivers: population aging, chronic disease rates, health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https://drive.google.com/file/d/1zt3vNjOlugypsvPkywduyWNRPGTHrsoj/view?usp=drive_link</a:t>
            </a:r>
          </a:p>
          <a:p>
            <a:pPr>
              <a:defRPr sz="900" i="1"/>
            </a:pPr>
            <a:r>
              <a:t>[2] https://en.caclp.com/industry-news/2808.html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Trends &amp; Developments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IVDR transition creating market consolidation with 30% of SMEs forced out</a:t>
            </a:r>
          </a:p>
          <a:p>
            <a:pPr>
              <a:defRPr sz="1600"/>
            </a:pPr>
            <a:r>
              <a:t>Geopolitical tensions leading to EU restrictions on Chinese participation in large contracts</a:t>
            </a:r>
          </a:p>
          <a:p>
            <a:pPr>
              <a:defRPr sz="1600"/>
            </a:pPr>
            <a:r>
              <a:t>Strategic acquisitions accelerating (Mindray/DiaSys, Mindray/HyTest, Wondfo/Tisenc)</a:t>
            </a:r>
          </a:p>
          <a:p>
            <a:pPr>
              <a:defRPr sz="1600"/>
            </a:pPr>
            <a:r>
              <a:t>Localization strategies becoming critical for market access and customer trust</a:t>
            </a:r>
          </a:p>
          <a:p>
            <a:pPr>
              <a:defRPr sz="1600"/>
            </a:pPr>
            <a:r>
              <a:t>R&amp;D investment increasing with Mindray allocating 10.99% of revenue to medical R&amp;D</a:t>
            </a:r>
          </a:p>
          <a:p>
            <a:pPr>
              <a:defRPr sz="1600"/>
            </a:pPr>
            <a:r>
              <a:t>Shift toward AI and automation integration in product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https://drive.google.com/file/d/1zt3vNjOlugypsvPkywduyWNRPGTHrsoj/view?usp=drive_link</a:t>
            </a:r>
          </a:p>
          <a:p>
            <a:pPr>
              <a:defRPr sz="900" i="1"/>
            </a:pPr>
            <a:r>
              <a:t>[2] https://en.caclp.com/industry-news/2785.html</a:t>
            </a:r>
          </a:p>
          <a:p>
            <a:pPr>
              <a:defRPr sz="900" i="1"/>
            </a:pPr>
            <a:r>
              <a:t>[3] https://en.caclp.com/industry-news/3349.html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91885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Company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Global Registrations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Overseas Registrations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2024 Growth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IVDR Progress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Mindray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3,914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3,158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30%+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Multiple certifications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Snibe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1,493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16.62%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211 chemiluminescence reagents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Maccura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2,467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Autobio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IVDR certified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Wondfo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140+ countries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IVDR QMS certified</a:t>
                      </a:r>
                    </a:p>
                  </a:txBody>
                  <a:tcPr anchor="ctr"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https://en.caclp.com/industry-news/2365.html</a:t>
            </a:r>
          </a:p>
          <a:p>
            <a:pPr>
              <a:defRPr sz="900" i="1"/>
            </a:pPr>
            <a:r>
              <a:t>[2] https://en.caclp.com/industry-news/2785.html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IVDR (EU 2017/746) implementation began May 26, 2022 with extended transition to 2027-2028</a:t>
            </a:r>
          </a:p>
          <a:p>
            <a:pPr>
              <a:defRPr sz="1600"/>
            </a:pPr>
            <a:r>
              <a:t>CE certification mandatory for market access, acting as regulatory 'visa'</a:t>
            </a:r>
          </a:p>
          <a:p>
            <a:pPr>
              <a:defRPr sz="1600"/>
            </a:pPr>
            <a:r>
              <a:t>Chinese companies among first to achieve IVDR certifications across multiple categories</a:t>
            </a:r>
          </a:p>
          <a:p>
            <a:pPr>
              <a:defRPr sz="1600"/>
            </a:pPr>
            <a:r>
              <a:t>REACH environmental regulations adding compliance complexity for reagents and instruments</a:t>
            </a:r>
          </a:p>
          <a:p>
            <a:pPr>
              <a:defRPr sz="1600"/>
            </a:pPr>
            <a:r>
              <a:t>High-risk IVD products require Notified Body certification; low-risk can be self-declared</a:t>
            </a:r>
          </a:p>
          <a:p>
            <a:pPr>
              <a:defRPr sz="1600"/>
            </a:pPr>
            <a:r>
              <a:t>Average certification process lengthened by 6-12 months under IVDR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7315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https://drive.google.com/file/d/1zt3vNjOlugypsvPkywduyWNRPGTHrsoj/view?usp=drive_link</a:t>
            </a:r>
          </a:p>
          <a:p>
            <a:pPr>
              <a:defRPr sz="900" i="1"/>
            </a:pPr>
            <a:r>
              <a:t>[2] https://en.caclp.com/industry-news/1160.html</a:t>
            </a:r>
          </a:p>
          <a:p>
            <a:pPr>
              <a:defRPr sz="900" i="1"/>
            </a:pPr>
            <a:r>
              <a:t>[3] https://en.caclp.com/industry-news/3530.html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&amp; Reimbursement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EU member states use pricing systems driven by public health insurance</a:t>
            </a:r>
          </a:p>
          <a:p>
            <a:pPr>
              <a:defRPr sz="1600"/>
            </a:pPr>
            <a:r>
              <a:t>National/regional agencies negotiate with manufacturers balancing affordability, profits, compliance</a:t>
            </a:r>
          </a:p>
          <a:p>
            <a:pPr>
              <a:defRPr sz="1600"/>
            </a:pPr>
            <a:r>
              <a:t>Tiered reimbursement structure: DRG-based prospective payment system plus supplementary mechanisms</a:t>
            </a:r>
          </a:p>
          <a:p>
            <a:pPr>
              <a:defRPr sz="1600"/>
            </a:pPr>
            <a:r>
              <a:t>Public tender rules and long-term cost control paramount in government-funded systems</a:t>
            </a:r>
          </a:p>
          <a:p>
            <a:pPr>
              <a:defRPr sz="1600"/>
            </a:pPr>
            <a:r>
              <a:t>European market fragmentation requires country-specific reimbursement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https://drive.google.com/file/d/1zt3vNjOlugypsvPkywduyWNRPGTHrsoj/view?usp=drive_link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&amp; Spend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€5M threshold for EU restrictions on Chinese participation in public procurement</a:t>
            </a:r>
          </a:p>
          <a:p>
            <a:pPr>
              <a:defRPr sz="1600"/>
            </a:pPr>
            <a:r>
              <a:t>Chinese suppliers limited to smaller, decentralized budget allocations</a:t>
            </a:r>
          </a:p>
          <a:p>
            <a:pPr>
              <a:defRPr sz="1600"/>
            </a:pPr>
            <a:r>
              <a:t>Successful bids must contain no more than 50% Chinese inputs</a:t>
            </a:r>
          </a:p>
          <a:p>
            <a:pPr>
              <a:defRPr sz="1600"/>
            </a:pPr>
            <a:r>
              <a:t>Exceptions possible where no alternative suppliers exist</a:t>
            </a:r>
          </a:p>
          <a:p>
            <a:pPr>
              <a:defRPr sz="1600"/>
            </a:pPr>
            <a:r>
              <a:t>Government and mandatory insurance represents majority of funding (&gt;60%)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https://ec.europa.eu/commission/presscorner/detail/en/ip_25_1569</a:t>
            </a:r>
          </a:p>
          <a:p>
            <a:pPr>
              <a:defRPr sz="900" i="1"/>
            </a:pPr>
            <a:r>
              <a:t>[2] https://drive.google.com/file/d/1zt3vNjOlugypsvPkywduyWNRPGTHrsoj/view?usp=drive_link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Receptivity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Chinese medical device exports to EU more than doubled between 2015-2023</a:t>
            </a:r>
          </a:p>
          <a:p>
            <a:pPr>
              <a:defRPr sz="1600"/>
            </a:pPr>
            <a:r>
              <a:t>Price sensitivity in low-to-mid-end devices, brand trust deficit in high-end products</a:t>
            </a:r>
          </a:p>
          <a:p>
            <a:pPr>
              <a:defRPr sz="1600"/>
            </a:pPr>
            <a:r>
              <a:t>Snibe sold 3,637 units abroad vs 1,141 domestically in first three quarters of 2022</a:t>
            </a:r>
          </a:p>
          <a:p>
            <a:pPr>
              <a:defRPr sz="1600"/>
            </a:pPr>
            <a:r>
              <a:t>Market dominated by international giants (Roche, J&amp;J, Siemens, Abbott) with strong brands</a:t>
            </a:r>
          </a:p>
          <a:p>
            <a:pPr>
              <a:defRPr sz="1600"/>
            </a:pPr>
            <a:r>
              <a:t>Chinese companies targeting small to middle size diagnostic centers with compact solutions</a:t>
            </a:r>
          </a:p>
          <a:p>
            <a:pPr>
              <a:defRPr sz="1600"/>
            </a:pPr>
            <a:r>
              <a:t>Performance-to-cost ratio creating substitution effect in international markets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200400"/>
            <a:ext cx="45720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https://ec.europa.eu/commission/presscorner/detail/en/ip_25_1569</a:t>
            </a:r>
          </a:p>
          <a:p>
            <a:pPr>
              <a:defRPr sz="900" i="1"/>
            </a:pPr>
            <a:r>
              <a:t>[2] https://drive.google.com/file/d/1zt3vNjOlugypsvPkywduyWNRPGTHrsoj/view?usp=drive_link</a:t>
            </a:r>
          </a:p>
          <a:p>
            <a:pPr>
              <a:defRPr sz="900" i="1"/>
            </a:pPr>
            <a:r>
              <a:t>[3] https://en.caclp.com/industry-news/2365.html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Strategic acquisitions of European companies to secure supply chains and credibility</a:t>
            </a:r>
          </a:p>
          <a:p>
            <a:pPr>
              <a:defRPr sz="1600"/>
            </a:pPr>
            <a:r>
              <a:t>Targeting Eastern European countries (Hungary, Greece) as gateways to EU market</a:t>
            </a:r>
          </a:p>
          <a:p>
            <a:pPr>
              <a:defRPr sz="1600"/>
            </a:pPr>
            <a:r>
              <a:t>Leveraging German/Dutch certification for enhanced brand credibility</a:t>
            </a:r>
          </a:p>
          <a:p>
            <a:pPr>
              <a:defRPr sz="1600"/>
            </a:pPr>
            <a:r>
              <a:t>Focus on high-margin chemiluminescence sector with 20-25% localization rate in China</a:t>
            </a:r>
          </a:p>
          <a:p>
            <a:pPr>
              <a:defRPr sz="1600"/>
            </a:pPr>
            <a:r>
              <a:t>Developing compact POCT solutions for decentralized testing segments</a:t>
            </a:r>
          </a:p>
          <a:p>
            <a:pPr>
              <a:defRPr sz="1600"/>
            </a:pPr>
            <a:r>
              <a:t>Utilizing cost-effectiveness advantage for price-sensitive market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https://drive.google.com/file/d/1zt3vNjOlugypsvPkywduyWNRPGTHrsoj/view?usp=drive_link</a:t>
            </a:r>
          </a:p>
          <a:p>
            <a:pPr>
              <a:defRPr sz="900" i="1"/>
            </a:pPr>
            <a:r>
              <a:t>[2] https://en.caclp.com/industry-news/1161.html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EU supply chain localization policies increasing uncertainty for Chinese exporters</a:t>
            </a:r>
          </a:p>
          <a:p>
            <a:pPr>
              <a:defRPr sz="1600"/>
            </a:pPr>
            <a:r>
              <a:t>Complex international regulatory and certification barriers (FDA PMA, EU CE-MDR)</a:t>
            </a:r>
          </a:p>
          <a:p>
            <a:pPr>
              <a:defRPr sz="1600"/>
            </a:pPr>
            <a:r>
              <a:t>Technology and intellectual property risks in developed markets</a:t>
            </a:r>
          </a:p>
          <a:p>
            <a:pPr>
              <a:defRPr sz="1600"/>
            </a:pPr>
            <a:r>
              <a:t>Difficulty in localization and building brand trust in high-end segments</a:t>
            </a:r>
          </a:p>
          <a:p>
            <a:pPr>
              <a:defRPr sz="1600"/>
            </a:pPr>
            <a:r>
              <a:t>Geopolitical tensions affecting market access through IPI restrictions</a:t>
            </a:r>
          </a:p>
          <a:p>
            <a:pPr>
              <a:defRPr sz="1600"/>
            </a:pPr>
            <a:r>
              <a:t>Market fragmentation requiring country-specific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https://drive.google.com/file/d/1zt3vNjOlugypsvPkywduyWNRPGTHrsoj/view?usp=drive_link</a:t>
            </a:r>
          </a:p>
          <a:p>
            <a:pPr>
              <a:defRPr sz="900" i="1"/>
            </a:pPr>
            <a:r>
              <a:t>[2] https://ec.europa.eu/commission/presscorner/detail/en/ip_25_1569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Establish local European manufacturing and service capabilities through acquisitions</a:t>
            </a:r>
          </a:p>
          <a:p>
            <a:pPr>
              <a:defRPr sz="1600"/>
            </a:pPr>
            <a:r>
              <a:t>Develop country-specific market entry strategies accounting for reimbursement variations</a:t>
            </a:r>
          </a:p>
          <a:p>
            <a:pPr>
              <a:defRPr sz="1600"/>
            </a:pPr>
            <a:r>
              <a:t>Invest in high-level IVDR compliance and environmental regulation (REACH) expertise</a:t>
            </a:r>
          </a:p>
          <a:p>
            <a:pPr>
              <a:defRPr sz="1600"/>
            </a:pPr>
            <a:r>
              <a:t>Build strategic partnerships with European distributors and service providers</a:t>
            </a:r>
          </a:p>
          <a:p>
            <a:pPr>
              <a:defRPr sz="1600"/>
            </a:pPr>
            <a:r>
              <a:t>Focus product development on high-margin segments with competitive advantages</a:t>
            </a:r>
          </a:p>
          <a:p>
            <a:pPr>
              <a:defRPr sz="1600"/>
            </a:pPr>
            <a:r>
              <a:t>Diversify geographic focus to include Eastern European gateway markets</a:t>
            </a:r>
          </a:p>
          <a:p>
            <a:pPr>
              <a:defRPr sz="1600"/>
            </a:pPr>
            <a:r>
              <a:t>Develop strong clinical evidence and KOL relationships to overcome trust deficit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European IVD market presents significant opportunity but requires sophisticated approach</a:t>
            </a:r>
          </a:p>
          <a:p>
            <a:pPr>
              <a:defRPr sz="1600"/>
            </a:pPr>
            <a:r>
              <a:t>Regulatory compliance (IVDR) is foundational but insufficient without localization strategy</a:t>
            </a:r>
          </a:p>
          <a:p>
            <a:pPr>
              <a:defRPr sz="1600"/>
            </a:pPr>
            <a:r>
              <a:t>Geopolitical factors increasingly influencing market access conditions</a:t>
            </a:r>
          </a:p>
          <a:p>
            <a:pPr>
              <a:defRPr sz="1600"/>
            </a:pPr>
            <a:r>
              <a:t>Leading Chinese companies demonstrating capability to compete through acquisitions and innovation</a:t>
            </a:r>
          </a:p>
          <a:p>
            <a:pPr>
              <a:defRPr sz="1600"/>
            </a:pPr>
            <a:r>
              <a:t>Success requires balancing cost-effectiveness with quality perception and local presence</a:t>
            </a:r>
          </a:p>
          <a:p>
            <a:pPr>
              <a:defRPr sz="1600"/>
            </a:pPr>
            <a:r>
              <a:t>Market shifting from export economics to requirement for deep European localization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Frost &amp; Sullivan: 2025 Blue Book on Global Expansion of Chinese Medical Devices</a:t>
            </a:r>
          </a:p>
          <a:p>
            <a:pPr>
              <a:defRPr sz="1400"/>
            </a:pPr>
            <a:r>
              <a:t>European Commission: Restrictions on Chinese participation in medical devices procurement</a:t>
            </a:r>
          </a:p>
          <a:p>
            <a:pPr>
              <a:defRPr sz="1400"/>
            </a:pPr>
            <a:r>
              <a:t>CACLP: Various industry news articles on Chinese IVD company performance</a:t>
            </a:r>
          </a:p>
          <a:p>
            <a:pPr>
              <a:defRPr sz="1400"/>
            </a:pPr>
            <a:r>
              <a:t>Multiple company announcements and regulatory filings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
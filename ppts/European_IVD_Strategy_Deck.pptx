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European IVD Landscape – Strategic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Prepared for: Client Name</a:t>
            </a:r>
          </a:p>
          <a:p>
            <a:pPr>
              <a:spcBef>
                <a:spcPts val="600"/>
              </a:spcBef>
              <a:defRPr sz="1400"/>
            </a:pPr>
            <a:r>
              <a:t>Date: April 15,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[Source] https://example.com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European IVD market offers high value (≈€1.65 trillion healthcare spend) but faces stringent regulatory and procurement barriers.</a:t>
            </a:r>
          </a:p>
          <a:p>
            <a:pPr>
              <a:spcBef>
                <a:spcPts val="600"/>
              </a:spcBef>
              <a:defRPr sz="1400"/>
            </a:pPr>
            <a:r>
              <a:t>EU transition to IVDR lengthens certification timelines, favoring capital‑rich firms and local partners.</a:t>
            </a:r>
          </a:p>
          <a:p>
            <a:pPr>
              <a:spcBef>
                <a:spcPts val="600"/>
              </a:spcBef>
              <a:defRPr sz="1400"/>
            </a:pPr>
            <a:r>
              <a:t>EU public‑tender rules limit Chinese participation in contracts &gt; €5 M and cap Chinese inputs at 50 %.</a:t>
            </a:r>
          </a:p>
          <a:p>
            <a:pPr>
              <a:spcBef>
                <a:spcPts val="600"/>
              </a:spcBef>
              <a:defRPr sz="1400"/>
            </a:pPr>
            <a:r>
              <a:t>Strategic acquisitions (e.g., Mindray‑DiaSys, HyTest) and gateway countries (Hungary, Greece) mitigate entry risks.</a:t>
            </a:r>
          </a:p>
          <a:p>
            <a:pPr>
              <a:spcBef>
                <a:spcPts val="600"/>
              </a:spcBef>
              <a:defRPr sz="1400"/>
            </a:pPr>
            <a:r>
              <a:t>Rising R&amp;D spend (≈11 % of revenue for Mindray) positions Chinese firms for high‑tech AI/automation offerings.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[2] https://ec.europa.eu/commission/presscorner/detail/en/ip_25_1569</a:t>
            </a:r>
            <a:br/>
            <a:r>
              <a:t>[3] https://en.caclp.com/industry-news/2365.html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1. Market Overview</a:t>
            </a:r>
          </a:p>
          <a:p>
            <a:pPr>
              <a:spcBef>
                <a:spcPts val="600"/>
              </a:spcBef>
              <a:defRPr sz="1400"/>
            </a:pPr>
            <a:r>
              <a:t>2. Key Trends</a:t>
            </a:r>
          </a:p>
          <a:p>
            <a:pPr>
              <a:spcBef>
                <a:spcPts val="600"/>
              </a:spcBef>
              <a:defRPr sz="1400"/>
            </a:pPr>
            <a:r>
              <a:t>3. Geography Insights</a:t>
            </a:r>
          </a:p>
          <a:p>
            <a:pPr>
              <a:spcBef>
                <a:spcPts val="600"/>
              </a:spcBef>
              <a:defRPr sz="1400"/>
            </a:pPr>
            <a:r>
              <a:t>4. Competitive Landscape</a:t>
            </a:r>
          </a:p>
          <a:p>
            <a:pPr>
              <a:spcBef>
                <a:spcPts val="600"/>
              </a:spcBef>
              <a:defRPr sz="1400"/>
            </a:pPr>
            <a:r>
              <a:t>5. Access &amp; Reimbursement</a:t>
            </a:r>
          </a:p>
          <a:p>
            <a:pPr>
              <a:spcBef>
                <a:spcPts val="600"/>
              </a:spcBef>
              <a:defRPr sz="1400"/>
            </a:pPr>
            <a:r>
              <a:t>6. Budget &amp; Spend Analysis</a:t>
            </a:r>
          </a:p>
          <a:p>
            <a:pPr>
              <a:spcBef>
                <a:spcPts val="600"/>
              </a:spcBef>
              <a:defRPr sz="1400"/>
            </a:pPr>
            <a:r>
              <a:t>7. Regulatory Landscape</a:t>
            </a:r>
          </a:p>
          <a:p>
            <a:pPr>
              <a:spcBef>
                <a:spcPts val="600"/>
              </a:spcBef>
              <a:defRPr sz="1400"/>
            </a:pPr>
            <a:r>
              <a:t>8. Customer Receptivity</a:t>
            </a:r>
          </a:p>
          <a:p>
            <a:pPr>
              <a:spcBef>
                <a:spcPts val="600"/>
              </a:spcBef>
              <a:defRPr sz="1400"/>
            </a:pPr>
            <a:r>
              <a:t>9. Strategic Opportunities</a:t>
            </a:r>
          </a:p>
          <a:p>
            <a:pPr>
              <a:spcBef>
                <a:spcPts val="600"/>
              </a:spcBef>
              <a:defRPr sz="1400"/>
            </a:pPr>
            <a:r>
              <a:t>10. Risks &amp; Challenges</a:t>
            </a:r>
          </a:p>
          <a:p>
            <a:pPr>
              <a:spcBef>
                <a:spcPts val="600"/>
              </a:spcBef>
              <a:defRPr sz="1400"/>
            </a:pPr>
            <a:r>
              <a:t>11. KPI Highlights</a:t>
            </a:r>
          </a:p>
          <a:p>
            <a:pPr>
              <a:spcBef>
                <a:spcPts val="600"/>
              </a:spcBef>
              <a:defRPr sz="1400"/>
            </a:pPr>
            <a:r>
              <a:t>12. 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Market Overview – Scale &amp;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Europe’s total healthcare expenditure: €1.65 trillion (≈€3 685 per capita) [1].</a:t>
            </a:r>
          </a:p>
          <a:p>
            <a:pPr>
              <a:spcBef>
                <a:spcPts val="600"/>
              </a:spcBef>
              <a:defRPr sz="1400"/>
            </a:pPr>
            <a:r>
              <a:t>IVD segment represents a substantial share of this spend, driven by aging populations and chronic disease prevalence.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European Healthcare Expenditure</a:t>
            </a:r>
          </a:p>
        </p:txBody>
      </p:sp>
      <p:pic>
        <p:nvPicPr>
          <p:cNvPr id="3" name="Picture 2" descr="europe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76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Regulatory shift: EU MDR/IVDR extends certification by 6‑12 months, increasing compliance costs [1].</a:t>
            </a:r>
          </a:p>
          <a:p>
            <a:pPr>
              <a:spcBef>
                <a:spcPts val="600"/>
              </a:spcBef>
              <a:defRPr sz="1400"/>
            </a:pPr>
            <a:r>
              <a:t>Public procurement ban on Chinese firms for contracts &gt; €5 M; 50 % Chinese input ceiling [2].</a:t>
            </a:r>
          </a:p>
          <a:p>
            <a:pPr>
              <a:spcBef>
                <a:spcPts val="600"/>
              </a:spcBef>
              <a:defRPr sz="1400"/>
            </a:pPr>
            <a:r>
              <a:t>Cost advantage leveraged for low‑to‑mid tier devices; trust deficit persists for high‑end products [1][3].</a:t>
            </a:r>
          </a:p>
          <a:p>
            <a:pPr>
              <a:spcBef>
                <a:spcPts val="600"/>
              </a:spcBef>
              <a:defRPr sz="1400"/>
            </a:pPr>
            <a:r>
              <a:t>M&amp;A activity (e.g., Mindray‑DiaSys, Mindray‑HyTest) accelerates local presence [1][4].</a:t>
            </a:r>
          </a:p>
          <a:p>
            <a:pPr>
              <a:spcBef>
                <a:spcPts val="600"/>
              </a:spcBef>
              <a:defRPr sz="1400"/>
            </a:pPr>
            <a:r>
              <a:t>Rapid product launches during health emergencies (e.g., monkeypox kits) demonstrate speed to market [10].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[2] https://ec.europa.eu/commission/presscorner/detail/en/ip_25_1569</a:t>
            </a:r>
            <a:br/>
            <a:r>
              <a:t>[3] https://drive.google.com/file/d/1zt3vNjOlugypsvPkywduyWNRPGTHrsoj/view?usp=drive_link</a:t>
            </a:r>
            <a:br/>
            <a:r>
              <a:t>[4] https://drive.google.com/file/d/1zt3vNjOlugypsvPkywduyWNRPGTHrsoj/view?usp=drive_link</a:t>
            </a:r>
            <a:br/>
            <a:r>
              <a:t>[10] https://en.caclp.com/industry-news/1480.html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Geography Insights – Key EU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France, Germany, United Kingdom, Italy, Spain, Netherlands, Belgium, Switzerland, Greece, Hungary, Turkey, Norway, Iceland, Liechtenstein, Russia are highlighted as target regions [1].</a:t>
            </a:r>
          </a:p>
          <a:p>
            <a:pPr>
              <a:spcBef>
                <a:spcPts val="600"/>
              </a:spcBef>
              <a:defRPr sz="1400"/>
            </a:pPr>
            <a:r>
              <a:t>Eastern European gateways (Hungary, Greece) frequently used for initial EU entry and certification in Germany/Netherlands [4].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[4]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Competitive Landscape – Chinese IVD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Mindray: 3,914 global registrations (3,158 overseas) [4]; acquisition of DiaSys (Germany) reinforces local service.</a:t>
            </a:r>
          </a:p>
          <a:p>
            <a:pPr>
              <a:spcBef>
                <a:spcPts val="600"/>
              </a:spcBef>
              <a:defRPr sz="1400"/>
            </a:pPr>
            <a:r>
              <a:t>Snibe: 1,493 global registrations; 211 chemiluminescence + 67 biochemical IVDR certifications [7].</a:t>
            </a:r>
          </a:p>
          <a:p>
            <a:pPr>
              <a:spcBef>
                <a:spcPts val="600"/>
              </a:spcBef>
              <a:defRPr sz="1400"/>
            </a:pPr>
            <a:r>
              <a:t>Wondfo: Global service network across 150+ countries; multiple IVDR certificates since 2020 [8].</a:t>
            </a:r>
          </a:p>
          <a:p>
            <a:pPr>
              <a:spcBef>
                <a:spcPts val="600"/>
              </a:spcBef>
              <a:defRPr sz="1400"/>
            </a:pPr>
            <a:r>
              <a:t>Autobio: Strong R&amp;D investment (≈11 % of revenue) supports high‑end product development [5].</a:t>
            </a:r>
          </a:p>
          <a:p>
            <a:pPr>
              <a:spcBef>
                <a:spcPts val="600"/>
              </a:spcBef>
              <a:defRPr sz="1400"/>
            </a:pPr>
            <a:r>
              <a:t>Other notable firms: Maccura, YHLO, Antobio, etc., with IVDR compliance milestones [8].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[4] https://en.caclp.com/industry-news/2365.html</a:t>
            </a:r>
            <a:br/>
            <a:r>
              <a:t>[7] https://en.caclp.com/industry-news/3530.html</a:t>
            </a:r>
            <a:br/>
            <a:r>
              <a:t>[8] https://en.caclp.com/industry-news/1160.html</a:t>
            </a:r>
            <a:br/>
            <a:r>
              <a:t>[5] https://en.caclp.com/industry-news/2785.html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Access &amp; Reimbursement – Public Tender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EU public tenders use DRG‑based prospective payment; tiered reimbursement for innovative technologies [1].</a:t>
            </a:r>
          </a:p>
          <a:p>
            <a:pPr>
              <a:spcBef>
                <a:spcPts val="600"/>
              </a:spcBef>
              <a:defRPr sz="1400"/>
            </a:pPr>
            <a:r>
              <a:t>National agencies negotiate pricing to balance affordability, profit, and compliance [1].</a:t>
            </a:r>
          </a:p>
          <a:p>
            <a:pPr>
              <a:spcBef>
                <a:spcPts val="600"/>
              </a:spcBef>
              <a:defRPr sz="1400"/>
            </a:pPr>
            <a:r>
              <a:t>Procurement restriction for Chinese firms on contracts &gt; €5 M; maximum 50 % Chinese inputs [2].</a:t>
            </a:r>
          </a:p>
          <a:p>
            <a:pPr>
              <a:spcBef>
                <a:spcPts val="600"/>
              </a:spcBef>
              <a:defRPr sz="1400"/>
            </a:pPr>
            <a:r>
              <a:t>Despite barriers, cost‑effective Chinese solutions remain attractive for budget‑constrained public buyers.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Budget &amp; Spend – European Healthcare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Public sector accounts for &gt; 60 % of European healthcare budgets, emphasizing tender‑driven procurement [1].</a:t>
            </a:r>
          </a:p>
          <a:p>
            <a:pPr>
              <a:spcBef>
                <a:spcPts val="600"/>
              </a:spcBef>
              <a:defRPr sz="1400"/>
            </a:pPr>
            <a:r>
              <a:t>Chinese suppliers must align with long‑term cost‑control strategies to secure public contracts [1].</a:t>
            </a:r>
          </a:p>
          <a:p>
            <a:pPr>
              <a:spcBef>
                <a:spcPts val="600"/>
              </a:spcBef>
              <a:defRPr sz="1400"/>
            </a:pPr>
            <a:r>
              <a:t>Domestic Chinese market contraction (COVID‑era spend reduction) pushes firms toward export growth [9].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[9] https://en.caclp.com/industry-news/3349.html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Regulatory Landscape – IVDR &amp; CE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EU IVDR (Regulation 2017/746) became mandatory May 2022; transition from IVDD extends compliance timelines [8].</a:t>
            </a:r>
          </a:p>
          <a:p>
            <a:pPr>
              <a:spcBef>
                <a:spcPts val="600"/>
              </a:spcBef>
              <a:defRPr sz="1400"/>
            </a:pPr>
            <a:r>
              <a:t>CE “visa” is prerequisite for market entry; more than 40 Chinese firms hold CE for monkeypox kits, indicating certification capability [10].</a:t>
            </a:r>
          </a:p>
          <a:p>
            <a:pPr>
              <a:spcBef>
                <a:spcPts val="600"/>
              </a:spcBef>
              <a:defRPr sz="1400"/>
            </a:pPr>
            <a:r>
              <a:t>Snibe achieved IVDR CE for 278 products (211 chemiluminescence + 67 biochemical) [7].</a:t>
            </a:r>
          </a:p>
          <a:p>
            <a:pPr>
              <a:spcBef>
                <a:spcPts val="600"/>
              </a:spcBef>
              <a:defRPr sz="1400"/>
            </a:pPr>
            <a:r>
              <a:t>Mindray’s β2‑microglobulin kit obtained first IVDR CE certificate in China (Jan 2021) [8].</a:t>
            </a:r>
          </a:p>
          <a:p>
            <a:pPr>
              <a:spcBef>
                <a:spcPts val="600"/>
              </a:spcBef>
              <a:defRPr sz="1400"/>
            </a:pPr>
            <a:r>
              <a:t>Regulatory delays increase costs and favor firms with established EU subsidiaries or acquisitions.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[8] https://en.caclp.com/industry-news/1160.html</a:t>
            </a:r>
            <a:br/>
            <a:r>
              <a:t>[10] https://en.caclp.com/industry-news/1480.html</a:t>
            </a:r>
            <a:br/>
            <a:r>
              <a:t>[7] https://en.caclp.com/industry-news/3530.html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Customer Receptivity – Trust &amp;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European customers exhibit price sensitivity for low‑mid tier devices but show limited brand trust for high‑end Chinese products [1][3].</a:t>
            </a:r>
          </a:p>
          <a:p>
            <a:pPr>
              <a:spcBef>
                <a:spcPts val="600"/>
              </a:spcBef>
              <a:defRPr sz="1400"/>
            </a:pPr>
            <a:r>
              <a:t>Chinese exports to EU doubled (2015‑2023), reflecting strong price‑driven demand despite trust gaps [2].</a:t>
            </a:r>
          </a:p>
          <a:p>
            <a:pPr>
              <a:spcBef>
                <a:spcPts val="600"/>
              </a:spcBef>
              <a:defRPr sz="1400"/>
            </a:pPr>
            <a:r>
              <a:t>Snibe reported higher overseas unit sales than domestic in 2022, indicating growing European acceptance [4].</a:t>
            </a:r>
          </a:p>
          <a:p>
            <a:pPr>
              <a:spcBef>
                <a:spcPts val="600"/>
              </a:spcBef>
              <a:defRPr sz="1400"/>
            </a:pPr>
            <a:r>
              <a:t>Wondfo’s global service network and localized production enhance customer confidence in EU markets [9].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[2] https://ec.europa.eu/commission/presscorner/detail/en/ip_25_1569</a:t>
            </a:r>
            <a:br/>
            <a:r>
              <a:t>[3] https://en.caclp.com/industry-news/2365.html</a:t>
            </a:r>
            <a:br/>
            <a:r>
              <a:t>[4] https://en.caclp.com/industry-news/3530.html</a:t>
            </a:r>
            <a:br/>
            <a:r>
              <a:t>[9] https://en.caclp.com/industry-news/3349.html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Strategic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Leverage gateway nations (Hungary, Greece) for EU certification and brand building.</a:t>
            </a:r>
          </a:p>
          <a:p>
            <a:pPr>
              <a:spcBef>
                <a:spcPts val="600"/>
              </a:spcBef>
              <a:defRPr sz="1400"/>
            </a:pPr>
            <a:r>
              <a:t>Pursue M&amp;A of established EU distributors or service firms (e.g., HyTest, DiaSys) to gain local credibility.</a:t>
            </a:r>
          </a:p>
          <a:p>
            <a:pPr>
              <a:spcBef>
                <a:spcPts val="600"/>
              </a:spcBef>
              <a:defRPr sz="1400"/>
            </a:pPr>
            <a:r>
              <a:t>Invest in AI‑enabled diagnostics to meet European demand for high‑value, automation‑focused solutions.</a:t>
            </a:r>
          </a:p>
          <a:p>
            <a:pPr>
              <a:spcBef>
                <a:spcPts val="600"/>
              </a:spcBef>
              <a:defRPr sz="1400"/>
            </a:pPr>
            <a:r>
              <a:t>Develop tiered product portfolios: cost‑effective low‑mid tier for public tenders; premium high‑performance lines for private/AI‑driven markets.</a:t>
            </a:r>
          </a:p>
          <a:p>
            <a:pPr>
              <a:spcBef>
                <a:spcPts val="600"/>
              </a:spcBef>
              <a:defRPr sz="1400"/>
            </a:pPr>
            <a:r>
              <a:t>Capitalize on rapid‑response capabilities demonstrated during health emergencies (e.g., monkeypox kits) to secure future outbreak contracts.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[4] https://drive.google.com/file/d/1zt3vNjOlugypsvPkywduyWNRPGTHrsoj/view?usp=drive_link</a:t>
            </a:r>
            <a:br/>
            <a:r>
              <a:t>[10] https://en.caclp.com/industry-news/1480.html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Risks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Regulatory delays: IVDR certification can add 6‑12 months and increase costs, risking market entry timing.</a:t>
            </a:r>
          </a:p>
          <a:p>
            <a:pPr>
              <a:spcBef>
                <a:spcPts val="600"/>
              </a:spcBef>
              <a:defRPr sz="1400"/>
            </a:pPr>
            <a:r>
              <a:t>Procurement bans: EU exclusion from contracts &gt; €5 M limits scale and revenue potential for Chinese firms.</a:t>
            </a:r>
          </a:p>
          <a:p>
            <a:pPr>
              <a:spcBef>
                <a:spcPts val="600"/>
              </a:spcBef>
              <a:defRPr sz="1400"/>
            </a:pPr>
            <a:r>
              <a:t>Brand trust: Persistent perception of lower quality hinders adoption of high‑end devices.</a:t>
            </a:r>
          </a:p>
          <a:p>
            <a:pPr>
              <a:spcBef>
                <a:spcPts val="600"/>
              </a:spcBef>
              <a:defRPr sz="1400"/>
            </a:pPr>
            <a:r>
              <a:t>Supply‑chain localization policies in EU may restrict Chinese component imports, raising cost structures.</a:t>
            </a:r>
          </a:p>
          <a:p>
            <a:pPr>
              <a:spcBef>
                <a:spcPts val="600"/>
              </a:spcBef>
              <a:defRPr sz="1400"/>
            </a:pPr>
            <a:r>
              <a:t>Geopolitical retaliation: EU measures linked to Chinese procurement restrictions could intensify.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[2] https://ec.europa.eu/commission/presscorner/detail/en/ip_25_1569</a:t>
            </a:r>
            <a:br/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KPI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IVDR‑certified Chinese products: &gt; 40 firms (incl. Snibe 278, Mindray multiple) [8][10].</a:t>
            </a:r>
          </a:p>
          <a:p>
            <a:pPr>
              <a:spcBef>
                <a:spcPts val="600"/>
              </a:spcBef>
              <a:defRPr sz="1400"/>
            </a:pPr>
            <a:r>
              <a:t>European healthcare spend per capita: €3 685 (2025) [1].</a:t>
            </a:r>
          </a:p>
          <a:p>
            <a:pPr>
              <a:spcBef>
                <a:spcPts val="600"/>
              </a:spcBef>
              <a:defRPr sz="1400"/>
            </a:pPr>
            <a:r>
              <a:t>Chinese IVD export growth to EU: 2× increase (2015‑2023) [2].</a:t>
            </a:r>
          </a:p>
          <a:p>
            <a:pPr>
              <a:spcBef>
                <a:spcPts val="600"/>
              </a:spcBef>
              <a:defRPr sz="1400"/>
            </a:pPr>
            <a:r>
              <a:t>Mindray overseas revenue growth FY 2024: &gt; 30 % YoY [9].</a:t>
            </a:r>
          </a:p>
          <a:p>
            <a:pPr>
              <a:spcBef>
                <a:spcPts val="600"/>
              </a:spcBef>
              <a:defRPr sz="1400"/>
            </a:pPr>
            <a:r>
              <a:t>R&amp;D intensity: Mindray ≈ 11 % of revenue (2024) [5].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[8] https://en.caclp.com/industry-news/1160.html</a:t>
            </a:r>
            <a:br/>
            <a:r>
              <a:t>[10] https://en.caclp.com/industry-news/1480.html</a:t>
            </a:r>
            <a:br/>
            <a:r>
              <a:t>[1] https://drive.google.com/file/d/1zt3vNjOlugypsvPkywduyWNRPGTHrsoj/view?usp=drive_link</a:t>
            </a:r>
            <a:br/>
            <a:r>
              <a:t>[2] https://ec.europa.eu/commission/presscorner/detail/en/ip_25_1569</a:t>
            </a:r>
            <a:br/>
            <a:r>
              <a:t>[9] https://en.caclp.com/industry-news/3349.html</a:t>
            </a:r>
            <a:br/>
            <a:r>
              <a:t>[5] https://en.caclp.com/industry-news/2785.html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Prioritize acquisitions of EU‑based service providers to overcome trust and support challenges.</a:t>
            </a:r>
          </a:p>
          <a:p>
            <a:pPr>
              <a:spcBef>
                <a:spcPts val="600"/>
              </a:spcBef>
              <a:defRPr sz="1400"/>
            </a:pPr>
            <a:r>
              <a:t>Deploy differentiated pricing models aligned with DRG‑based reimbursement structures.</a:t>
            </a:r>
          </a:p>
          <a:p>
            <a:pPr>
              <a:spcBef>
                <a:spcPts val="600"/>
              </a:spcBef>
              <a:defRPr sz="1400"/>
            </a:pPr>
            <a:r>
              <a:t>Accelerate IVDR certification pipelines; allocate dedicated regulatory teams for EU markets.</a:t>
            </a:r>
          </a:p>
          <a:p>
            <a:pPr>
              <a:spcBef>
                <a:spcPts val="600"/>
              </a:spcBef>
              <a:defRPr sz="1400"/>
            </a:pPr>
            <a:r>
              <a:t>Initiate targeted market entry pilots in gateway countries (Hungary, Greece) before scaling to core EU markets.</a:t>
            </a:r>
          </a:p>
          <a:p>
            <a:pPr>
              <a:spcBef>
                <a:spcPts val="600"/>
              </a:spcBef>
              <a:defRPr sz="1400"/>
            </a:pPr>
            <a:r>
              <a:t>Enhance brand positioning through clinical evidence generation and partnership with reputable EU KOLs.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  <a:br/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Europe remains a lucrative but regulated IVD market; success hinges on regulatory compliance, strategic localization, and brand trust.</a:t>
            </a:r>
          </a:p>
          <a:p>
            <a:pPr>
              <a:spcBef>
                <a:spcPts val="600"/>
              </a:spcBef>
              <a:defRPr sz="1400"/>
            </a:pPr>
            <a:r>
              <a:t>Chinese suppliers equipped with IVDR certifications and EU acquisitions are well‑positioned to capture market share amidst budget‑driven procurement.</a:t>
            </a:r>
          </a:p>
          <a:p>
            <a:pPr>
              <a:spcBef>
                <a:spcPts val="600"/>
              </a:spcBef>
              <a:defRPr sz="1400"/>
            </a:pPr>
            <a:r>
              <a:t>Proactive risk mitigation and differentiated value propositions will drive sustainable growth in the EU landscape.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>
              <a:defRPr sz="10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Appendix –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400"/>
            </a:pPr>
            <a:r>
              <a:t>1. Frost &amp; Sullivan Consulting China – 2025 Blue Book (EU market analysis).</a:t>
            </a:r>
          </a:p>
          <a:p>
            <a:pPr>
              <a:spcBef>
                <a:spcPts val="600"/>
              </a:spcBef>
              <a:defRPr sz="1400"/>
            </a:pPr>
            <a:r>
              <a:t>2. European Commission – Press Release on procurement restrictions (2025).</a:t>
            </a:r>
          </a:p>
          <a:p>
            <a:pPr>
              <a:spcBef>
                <a:spcPts val="600"/>
              </a:spcBef>
              <a:defRPr sz="1400"/>
            </a:pPr>
            <a:r>
              <a:t>3. CACLP – Internationalization of Chinese IVD companies (2023).</a:t>
            </a:r>
          </a:p>
          <a:p>
            <a:pPr>
              <a:spcBef>
                <a:spcPts val="600"/>
              </a:spcBef>
              <a:defRPr sz="1400"/>
            </a:pPr>
            <a:r>
              <a:t>4. CACLP – Wondfo acquisition of Tisenc (2021).</a:t>
            </a:r>
          </a:p>
          <a:p>
            <a:pPr>
              <a:spcBef>
                <a:spcPts val="600"/>
              </a:spcBef>
              <a:defRPr sz="1400"/>
            </a:pPr>
            <a:r>
              <a:t>5. CACLP – Q1 2024 financial results (Mindray, Autobio, Snibe).</a:t>
            </a:r>
          </a:p>
          <a:p>
            <a:pPr>
              <a:spcBef>
                <a:spcPts val="600"/>
              </a:spcBef>
              <a:defRPr sz="1400"/>
            </a:pPr>
            <a:r>
              <a:t>6. CACLP – 2023 annual reports of Chinese IVD listed companies.</a:t>
            </a:r>
          </a:p>
          <a:p>
            <a:pPr>
              <a:spcBef>
                <a:spcPts val="600"/>
              </a:spcBef>
              <a:defRPr sz="1400"/>
            </a:pPr>
            <a:r>
              <a:t>7. CACLP – Snibe IVDR certification update (2025).</a:t>
            </a:r>
          </a:p>
          <a:p>
            <a:pPr>
              <a:spcBef>
                <a:spcPts val="600"/>
              </a:spcBef>
              <a:defRPr sz="1400"/>
            </a:pPr>
            <a:r>
              <a:t>8. CACLP – Five Chinese IVD companies obtain EU QMS/IVDR (2021).</a:t>
            </a:r>
          </a:p>
          <a:p>
            <a:pPr>
              <a:spcBef>
                <a:spcPts val="600"/>
              </a:spcBef>
              <a:defRPr sz="1400"/>
            </a:pPr>
            <a:r>
              <a:t>9. CACLP – 2024 financial performance (Mindray, DiaSys acquisition).</a:t>
            </a:r>
          </a:p>
          <a:p>
            <a:pPr>
              <a:spcBef>
                <a:spcPts val="600"/>
              </a:spcBef>
              <a:defRPr sz="1400"/>
            </a:pPr>
            <a:r>
              <a:t>10. CACLP – CE certification for monkeypox kits (2022).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
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European IVD Market Analysis: Chinese Supplier Expansion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Research Briefing</a:t>
            </a:r>
          </a:p>
          <a:p>
            <a:r>
              <a:t>2025 Market Intelligence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Executive Summary: Chinese IVD Suppliers Face High-Value European Market with Significant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• European IVD market represents €1.65 trillion healthcare expenditure with €3,685 per capita spending</a:t>
            </a:r>
          </a:p>
          <a:p>
            <a:pPr>
              <a:defRPr sz="1400"/>
            </a:pPr>
            <a:r>
              <a:t>• Chinese suppliers face new EU procurement restrictions banning participation in tenders &gt;€5M with &gt;50% Chinese inputs</a:t>
            </a:r>
          </a:p>
          <a:p>
            <a:pPr>
              <a:defRPr sz="1400"/>
            </a:pPr>
            <a:r>
              <a:t>• IVDR transition creates significant regulatory barrier, lengthening certification by 6-12 months and forcing 30% of SMEs out</a:t>
            </a:r>
          </a:p>
          <a:p>
            <a:pPr>
              <a:defRPr sz="1400"/>
            </a:pPr>
            <a:r>
              <a:t>• Mindray leads Chinese expansion with 3,914 global registrations (3,158 overseas) and acquisition of German DiaSys</a:t>
            </a:r>
          </a:p>
          <a:p>
            <a:pPr>
              <a:defRPr sz="1400"/>
            </a:pPr>
            <a:r>
              <a:t>• Cost-effectiveness drives adoption in low-mid segments but trust deficit hampers high-end market penetration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[1] https://drive.google.com/file/d/1zt3vNjOlugypsvPkywduyWNRPGTHrsoj/view?usp=drive_link</a:t>
            </a:r>
          </a:p>
          <a:p>
            <a:pPr>
              <a:defRPr sz="1000" i="1"/>
            </a:pPr>
            <a:r>
              <a:t>[2] https://ec.europa.eu/commission/presscorner/detail/en/ip_25_1569</a:t>
            </a:r>
          </a:p>
          <a:p>
            <a:pPr>
              <a:defRPr sz="1000" i="1"/>
            </a:pPr>
            <a:r>
              <a:t>[4] https://en.caclp.com/industry-news/2365.html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/>
            </a:pPr>
            <a:r>
              <a:t>1. Market Overview &amp; Key Metrics</a:t>
            </a:r>
          </a:p>
          <a:p>
            <a:pPr>
              <a:defRPr sz="1600" b="1"/>
            </a:pPr>
            <a:r>
              <a:t>2. Regulatory Landscape Analysis</a:t>
            </a:r>
          </a:p>
          <a:p>
            <a:pPr>
              <a:defRPr sz="1600" b="1"/>
            </a:pPr>
            <a:r>
              <a:t>3. Competitive Intelligence</a:t>
            </a:r>
          </a:p>
          <a:p>
            <a:pPr>
              <a:defRPr sz="1600" b="1"/>
            </a:pPr>
            <a:r>
              <a:t>4. Market Access &amp; Procurement Barriers</a:t>
            </a:r>
          </a:p>
          <a:p>
            <a:pPr>
              <a:defRPr sz="1600" b="1"/>
            </a:pPr>
            <a:r>
              <a:t>5. Strategic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European IVD Market: High-Value Opportunity with Complex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Market Size &amp; Structure</a:t>
            </a:r>
          </a:p>
          <a:p>
            <a:pPr>
              <a:defRPr sz="1200"/>
            </a:pPr>
            <a:r>
              <a:t>• €1.65 trillion total healthcare expenditure with €3,685 per capita spending</a:t>
            </a:r>
          </a:p>
          <a:p>
            <a:pPr>
              <a:defRPr sz="1200"/>
            </a:pPr>
            <a:r>
              <a:t>• Government and mandatory insurance funding represents over 60% of budget structure</a:t>
            </a:r>
          </a:p>
          <a:p>
            <a:pPr>
              <a:defRPr sz="1200"/>
            </a:pPr>
            <a:r>
              <a:t>• Tiered reimbursement system: DRG-based prospective payment at base level, supplementary mechanisms for innovative technologies</a:t>
            </a:r>
          </a:p>
          <a:p>
            <a:pPr>
              <a:defRPr sz="1400" b="1"/>
            </a:pPr>
            <a:r>
              <a:t>Key Market Characteristics</a:t>
            </a:r>
          </a:p>
          <a:p>
            <a:pPr>
              <a:defRPr sz="1200"/>
            </a:pPr>
            <a:r>
              <a:t>• Not monolithic - collection of government-funded systems with public tender rules</a:t>
            </a:r>
          </a:p>
          <a:p>
            <a:pPr>
              <a:defRPr sz="1200"/>
            </a:pPr>
            <a:r>
              <a:t>• Cost-control paramount but mechanisms exist for premium reimbursement of proven clinical value</a:t>
            </a:r>
          </a:p>
          <a:p>
            <a:pPr>
              <a:defRPr sz="1200"/>
            </a:pPr>
            <a:r>
              <a:t>• Price sensitivity toward low-to-mid-end devices in developed European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[1] https://drive.google.com/file/d/1zt3vNjOlugypsvPkywduyWNRPGTHrsoj/view?usp=drive_link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Regulatory Landscape: IVDR Creates Significant Barriers for Market Entry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IVDR Transition Impact</a:t>
            </a:r>
          </a:p>
          <a:p>
            <a:pPr>
              <a:defRPr sz="1200"/>
            </a:pPr>
            <a:r>
              <a:t>• Certification process lengthened by 6-12 months since MDR implementation</a:t>
            </a:r>
          </a:p>
          <a:p>
            <a:pPr>
              <a:defRPr sz="1200"/>
            </a:pPr>
            <a:r>
              <a:t>• More than 30% of small and medium-sized enterprises forced out of market</a:t>
            </a:r>
          </a:p>
          <a:p>
            <a:pPr>
              <a:defRPr sz="1200"/>
            </a:pPr>
            <a:r>
              <a:t>• Transition periods extended to 2027-2028 requiring strict compliance throughout product lifecycle</a:t>
            </a:r>
          </a:p>
          <a:p>
            <a:pPr>
              <a:defRPr sz="1400" b="1"/>
            </a:pPr>
            <a:r>
              <a:t>Chinese Company Progress</a:t>
            </a:r>
          </a:p>
          <a:p>
            <a:pPr>
              <a:defRPr sz="1200"/>
            </a:pPr>
            <a:r>
              <a:t>• Snibe: 211 chemiluminescence + 67 biochemical reagents with IVDR CE certification</a:t>
            </a:r>
          </a:p>
          <a:p>
            <a:pPr>
              <a:defRPr sz="1200"/>
            </a:pPr>
            <a:r>
              <a:t>• Mindray: First biochemical project IVDR CE certificate (β2-microglobulin) in January 2021</a:t>
            </a:r>
          </a:p>
          <a:p>
            <a:pPr>
              <a:defRPr sz="1200"/>
            </a:pPr>
            <a:r>
              <a:t>• Wondfo: First IVDR quality management system certificate in POCT field (August 2021)</a:t>
            </a:r>
          </a:p>
          <a:p>
            <a:pPr>
              <a:defRPr sz="1200"/>
            </a:pPr>
            <a:r>
              <a:t>• Over 40 Chinese companies granted CE for monkeypox virus detection kits (2022)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[1] https://drive.google.com/file/d/1zt3vNjOlugypsvPkywduyWNRPGTHrsoj/view?usp=drive_link</a:t>
            </a:r>
          </a:p>
          <a:p>
            <a:pPr>
              <a:defRPr sz="1000" i="1"/>
            </a:pPr>
            <a:r>
              <a:t>[7] https://en.caclp.com/industry-news/3530.html</a:t>
            </a:r>
          </a:p>
          <a:p>
            <a:pPr>
              <a:defRPr sz="1000" i="1"/>
            </a:pPr>
            <a:r>
              <a:t>[8] https://en.caclp.com/industry-news/1160.html</a:t>
            </a:r>
          </a:p>
          <a:p>
            <a:pPr>
              <a:defRPr sz="1000" i="1"/>
            </a:pPr>
            <a:r>
              <a:t>[10] https://en.caclp.com/industry-news/1480.html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060"/>
                </a:solidFill>
              </a:defRPr>
            </a:pPr>
            <a:r>
              <a:t>Chinese IVD Suppliers Making Significant Progress on IVDR Compliance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[7] https://en.caclp.com/industry-news/3530.html | [8] https://en.caclp.com/industry-news/1160.html | [10] https://en.caclp.com/industry-news/1480.html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Procurement Restrictions: EU Limits Chinese Participation in High-Value Tenders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EU International Procurement Instrument (IPI) Measures</a:t>
            </a:r>
          </a:p>
          <a:p>
            <a:pPr>
              <a:defRPr sz="1200"/>
            </a:pPr>
            <a:r>
              <a:t>• Exclusion from public procurement tenders for medical devices &gt;€5 million contract value</a:t>
            </a:r>
          </a:p>
          <a:p>
            <a:pPr>
              <a:defRPr sz="1200"/>
            </a:pPr>
            <a:r>
              <a:t>• Maximum 50% Chinese inputs allowed for successful bids</a:t>
            </a:r>
          </a:p>
          <a:p>
            <a:pPr>
              <a:defRPr sz="1200"/>
            </a:pPr>
            <a:r>
              <a:t>• Exceptions only where no alternative suppliers exist</a:t>
            </a:r>
          </a:p>
          <a:p>
            <a:pPr>
              <a:defRPr sz="1400" b="1"/>
            </a:pPr>
            <a:r>
              <a:t>Market Impact Assessment</a:t>
            </a:r>
          </a:p>
          <a:p>
            <a:pPr>
              <a:defRPr sz="1200"/>
            </a:pPr>
            <a:r>
              <a:t>• Targets high-value public tenders central to IVD lab consolidation deals</a:t>
            </a:r>
          </a:p>
          <a:p>
            <a:pPr>
              <a:defRPr sz="1200"/>
            </a:pPr>
            <a:r>
              <a:t>• Chinese suppliers limited to smaller, decentralized budget allocations</a:t>
            </a:r>
          </a:p>
          <a:p>
            <a:pPr>
              <a:defRPr sz="1200"/>
            </a:pPr>
            <a:r>
              <a:t>• Non-Chinese companies may face issues if supply chain relies heavily on Chinese OEM components</a:t>
            </a:r>
          </a:p>
          <a:p>
            <a:pPr>
              <a:defRPr sz="1200"/>
            </a:pPr>
            <a:r>
              <a:t>• Retaliatory measure against China's 87% exclusion rate of EU medical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[2] https://ec.europa.eu/commission/presscorner/detail/en/ip_25_1569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2060"/>
                </a:solidFill>
              </a:defRPr>
            </a:pPr>
            <a:r>
              <a:t>EU Procurement Restrictions: Impact Analysis by Contract Value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Contract Value Threshold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Chinese Participation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t>Market Impact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Above €5 million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Excluded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Blocked from large-scale lab consolidation tenders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Below €5 million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Permitted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Access to smaller, decentralized purchases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Any value with &gt;50% Chinese inputs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Restricted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/>
                      </a:pPr>
                      <a:r>
                        <a:t>Supply chain diversification required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[2] https://ec.europa.eu/commission/presscorner/detail/en/ip_25_1569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Competitive Landscape: Chinese IVD Companies Expanding Global Presence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Market Position &amp; Global Reach</a:t>
            </a:r>
          </a:p>
          <a:p>
            <a:pPr>
              <a:defRPr sz="1200"/>
            </a:pPr>
            <a:r>
              <a:t>• Mindray: 3,914 global registrations (3,158 overseas) - leader in international expansion</a:t>
            </a:r>
          </a:p>
          <a:p>
            <a:pPr>
              <a:defRPr sz="1200"/>
            </a:pPr>
            <a:r>
              <a:t>• Snibe: 1,493 global registration certificates with strong overseas instrument sales</a:t>
            </a:r>
          </a:p>
          <a:p>
            <a:pPr>
              <a:defRPr sz="1200"/>
            </a:pPr>
            <a:r>
              <a:t>• Wondfo: Global service network covering 150+ countries with localized production bases</a:t>
            </a:r>
          </a:p>
          <a:p>
            <a:pPr>
              <a:defRPr sz="1400" b="1"/>
            </a:pPr>
            <a:r>
              <a:t>Strategic Acquisitions &amp; Partnerships</a:t>
            </a:r>
          </a:p>
          <a:p>
            <a:pPr>
              <a:defRPr sz="1200"/>
            </a:pPr>
            <a:r>
              <a:t>• Mindray acquired Germany's DiaSys (2023) and Finland's HyTest Invest Oy (2021)</a:t>
            </a:r>
          </a:p>
          <a:p>
            <a:pPr>
              <a:defRPr sz="1200"/>
            </a:pPr>
            <a:r>
              <a:t>• Autobio partnership with Sekisui Medical for biochemical reagents in China</a:t>
            </a:r>
          </a:p>
          <a:p>
            <a:pPr>
              <a:defRPr sz="1200"/>
            </a:pPr>
            <a:r>
              <a:t>• Wondfo acquired Shenzhen Tisenc Medical to expand chemiluminescence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[1] https://drive.google.com/file/d/1zt3vNjOlugypsvPkywduyWNRPGTHrsoj/view?usp=drive_link</a:t>
            </a:r>
          </a:p>
          <a:p>
            <a:pPr>
              <a:defRPr sz="1000" i="1"/>
            </a:pPr>
            <a:r>
              <a:t>[3] https://en.caclp.com/industry-news/1161.html</a:t>
            </a:r>
          </a:p>
          <a:p>
            <a:pPr>
              <a:defRPr sz="1000" i="1"/>
            </a:pPr>
            <a:r>
              <a:t>[4] https://en.caclp.com/industry-news/2365.html</a:t>
            </a:r>
          </a:p>
          <a:p>
            <a:pPr>
              <a:defRPr sz="1000" i="1"/>
            </a:pPr>
            <a:r>
              <a:t>[5] https://en.caclp.com/industry-news/2785.html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060"/>
                </a:solidFill>
              </a:defRPr>
            </a:pPr>
            <a:r>
              <a:t>Chinese IVD Leaders: Global Registration Footprint and Strategic Positioning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7772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8288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Company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Global Registrations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Overseas Registrations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t>Key Strategic Moves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Mindray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3,914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3,158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Acquired DiaSys (DE), HyTest (FI); 30% int'l growth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Snibe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1,493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278 IVDR products; strong chemiluminescence focus</a:t>
                      </a:r>
                    </a:p>
                  </a:txBody>
                  <a:tcPr anchor="ctr"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Wondfo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 b="0"/>
                      </a:pPr>
                      <a:r>
                        <a:t>150+ countries; acquired Tisenc; localized production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[1] https://drive.google.com/file/d/1zt3vNjOlugypsvPkywduyWNRPGTHrsoj/view?usp=drive_link | [4] https://en.caclp.com/industry-news/2365.html | [7] https://en.caclp.com/industry-news/3530.html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Financial Performance: Post-COVID Adjustment with Strong Export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Market Contraction &amp; Recovery</a:t>
            </a:r>
          </a:p>
          <a:p>
            <a:pPr>
              <a:defRPr sz="1200"/>
            </a:pPr>
            <a:r>
              <a:t>• 2023: 53.26% revenue decline to CNY 108.44B from CNY 231.99B in 2022 across 59 IVD companies</a:t>
            </a:r>
          </a:p>
          <a:p>
            <a:pPr>
              <a:defRPr sz="1200"/>
            </a:pPr>
            <a:r>
              <a:t>• 84.5% net profit decline to CNY 9.14B from CNY 59.12B in 2022</a:t>
            </a:r>
          </a:p>
          <a:p>
            <a:pPr>
              <a:defRPr sz="1200"/>
            </a:pPr>
            <a:r>
              <a:t>• Only 17 of 59 firms showed year-on-year revenue growth in 2023</a:t>
            </a:r>
          </a:p>
          <a:p>
            <a:pPr>
              <a:defRPr sz="1400" b="1"/>
            </a:pPr>
            <a:r>
              <a:t>Leading Performers &amp; Export Growth</a:t>
            </a:r>
          </a:p>
          <a:p>
            <a:pPr>
              <a:defRPr sz="1200"/>
            </a:pPr>
            <a:r>
              <a:t>• Mindray: 6 consecutive years of &gt;20% profit growth; 30% international IVD business growth</a:t>
            </a:r>
          </a:p>
          <a:p>
            <a:pPr>
              <a:defRPr sz="1200"/>
            </a:pPr>
            <a:r>
              <a:t>• Overseas revenue growth: Mindray +21.28%, Autobio +27.6%</a:t>
            </a:r>
          </a:p>
          <a:p>
            <a:pPr>
              <a:defRPr sz="1200"/>
            </a:pPr>
            <a:r>
              <a:t>• R&amp;D investment: Mindray allocated 10.99% of operating income (RMB 1.030B)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[5] https://en.caclp.com/industry-news/2785.html</a:t>
            </a:r>
          </a:p>
          <a:p>
            <a:pPr>
              <a:defRPr sz="1000" i="1"/>
            </a:pPr>
            <a:r>
              <a:t>[6] https://en.caclp.com/industry-news/2808.html</a:t>
            </a:r>
          </a:p>
          <a:p>
            <a:pPr>
              <a:defRPr sz="1000" i="1"/>
            </a:pPr>
            <a:r>
              <a:t>[9] https://en.caclp.com/industry-news/3349.html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2060"/>
                </a:solidFill>
              </a:defRPr>
            </a:pPr>
            <a:r>
              <a:t>Chinese IVD Market: Post-COVID Revenue Correction with Leading Players Recovering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[6] https://en.caclp.com/industry-news/2808.html | [9] https://en.caclp.com/industry-news/3349.html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Customer Receptivity: Cost-Effectiveness vs. Trust Deficit in High-End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Adoption Drivers</a:t>
            </a:r>
          </a:p>
          <a:p>
            <a:pPr>
              <a:defRPr sz="1200"/>
            </a:pPr>
            <a:r>
              <a:t>• Price competitiveness drives adoption in low-to-mid-tier segments</a:t>
            </a:r>
          </a:p>
          <a:p>
            <a:pPr>
              <a:defRPr sz="1200"/>
            </a:pPr>
            <a:r>
              <a:t>• Chinese exports to EU more than doubled between 2015-2023 indicating historical receptivity</a:t>
            </a:r>
          </a:p>
          <a:p>
            <a:pPr>
              <a:defRPr sz="1200"/>
            </a:pPr>
            <a:r>
              <a:t>• Snibe sold 3,637 chemiluminescent instruments abroad vs 1,141 domestically (2022)</a:t>
            </a:r>
          </a:p>
          <a:p>
            <a:pPr>
              <a:defRPr sz="1400" b="1"/>
            </a:pPr>
            <a:r>
              <a:t>Challenges &amp; Barriers</a:t>
            </a:r>
          </a:p>
          <a:p>
            <a:pPr>
              <a:defRPr sz="1200"/>
            </a:pPr>
            <a:r>
              <a:t>• Low brand recognition in developed European markets</a:t>
            </a:r>
          </a:p>
          <a:p>
            <a:pPr>
              <a:defRPr sz="1200"/>
            </a:pPr>
            <a:r>
              <a:t>• Trust deficit for high-end products from Chinese manufacturers</a:t>
            </a:r>
          </a:p>
          <a:p>
            <a:pPr>
              <a:defRPr sz="1200"/>
            </a:pPr>
            <a:r>
              <a:t>• Market dominated by international giants (Roche, J&amp;J) with strong brands and advanced technologies</a:t>
            </a:r>
          </a:p>
          <a:p>
            <a:pPr>
              <a:defRPr sz="1200"/>
            </a:pPr>
            <a:r>
              <a:t>• Need for local KOL endorsement and price incentives to displace existing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[1] https://drive.google.com/file/d/1zt3vNjOlugypsvPkywduyWNRPGTHrsoj/view?usp=drive_link</a:t>
            </a:r>
          </a:p>
          <a:p>
            <a:pPr>
              <a:defRPr sz="1000" i="1"/>
            </a:pPr>
            <a:r>
              <a:t>[2] https://ec.europa.eu/commission/presscorner/detail/en/ip_25_1569</a:t>
            </a:r>
          </a:p>
          <a:p>
            <a:pPr>
              <a:defRPr sz="1000" i="1"/>
            </a:pPr>
            <a:r>
              <a:t>[4] https://en.caclp.com/industry-news/2365.html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Strategic Approaches: Market Entry Strategies for European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Market Entry Pathways</a:t>
            </a:r>
          </a:p>
          <a:p>
            <a:pPr>
              <a:defRPr sz="1200"/>
            </a:pPr>
            <a:r>
              <a:t>• Eastern European gateway countries (Hungary, Greece) for initial EU market access</a:t>
            </a:r>
          </a:p>
          <a:p>
            <a:pPr>
              <a:defRPr sz="1200"/>
            </a:pPr>
            <a:r>
              <a:t>• German/Dutch certification for enhanced brand credibility despite stricter regulations</a:t>
            </a:r>
          </a:p>
          <a:p>
            <a:pPr>
              <a:defRPr sz="1200"/>
            </a:pPr>
            <a:r>
              <a:t>• Targeting small laboratories to middle-size diagnostic centers with compact POCT solutions</a:t>
            </a:r>
          </a:p>
          <a:p>
            <a:pPr>
              <a:defRPr sz="1400" b="1"/>
            </a:pPr>
            <a:r>
              <a:t>Localization Strategies</a:t>
            </a:r>
          </a:p>
          <a:p>
            <a:pPr>
              <a:defRPr sz="1200"/>
            </a:pPr>
            <a:r>
              <a:t>• Acquisition of European entities (Mindray: DiaSys Germany, HyTest Finland)</a:t>
            </a:r>
          </a:p>
          <a:p>
            <a:pPr>
              <a:defRPr sz="1200"/>
            </a:pPr>
            <a:r>
              <a:t>• Establishing local service networks and production capabilities</a:t>
            </a:r>
          </a:p>
          <a:p>
            <a:pPr>
              <a:defRPr sz="1200"/>
            </a:pPr>
            <a:r>
              <a:t>• Partnerships with European companies for market access and credibility</a:t>
            </a:r>
          </a:p>
          <a:p>
            <a:pPr>
              <a:defRPr sz="1400" b="1"/>
            </a:pPr>
            <a:r>
              <a:t>Product Segmentation</a:t>
            </a:r>
          </a:p>
          <a:p>
            <a:pPr>
              <a:defRPr sz="1200"/>
            </a:pPr>
            <a:r>
              <a:t>• Focus on high-margin chemiluminescence sector (20-25% localization rate in China)</a:t>
            </a:r>
          </a:p>
          <a:p>
            <a:pPr>
              <a:defRPr sz="1200"/>
            </a:pPr>
            <a:r>
              <a:t>• Development of 'world's first' technical specifications for high-end market appeal</a:t>
            </a:r>
          </a:p>
          <a:p>
            <a:pPr>
              <a:defRPr sz="1200"/>
            </a:pPr>
            <a:r>
              <a:t>• Emergency response kits (monkeypox) as gateway products for market entry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[1] https://drive.google.com/file/d/1zt3vNjOlugypsvPkywduyWNRPGTHrsoj/view?usp=drive_link</a:t>
            </a:r>
          </a:p>
          <a:p>
            <a:pPr>
              <a:defRPr sz="1000" i="1"/>
            </a:pPr>
            <a:r>
              <a:t>[3] https://en.caclp.com/industry-news/1161.html</a:t>
            </a:r>
          </a:p>
          <a:p>
            <a:pPr>
              <a:defRPr sz="1000" i="1"/>
            </a:pPr>
            <a:r>
              <a:t>[10] https://en.caclp.com/industry-news/1480.html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Risks &amp; Challenges: Navigating Complex European Market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Regulatory &amp; Compliance Risks</a:t>
            </a:r>
          </a:p>
          <a:p>
            <a:pPr>
              <a:defRPr sz="1200"/>
            </a:pPr>
            <a:r>
              <a:t>• IVDR transition lengthening certification by 6-12 months with increased costs</a:t>
            </a:r>
          </a:p>
          <a:p>
            <a:pPr>
              <a:defRPr sz="1200"/>
            </a:pPr>
            <a:r>
              <a:t>• Environmental regulations (REACH) adding compliance complexity for reagents and instruments</a:t>
            </a:r>
          </a:p>
          <a:p>
            <a:pPr>
              <a:defRPr sz="1200"/>
            </a:pPr>
            <a:r>
              <a:t>• Need for continuous compliance throughout product lifecycle with extended transition to 2027-2028</a:t>
            </a:r>
          </a:p>
          <a:p>
            <a:pPr>
              <a:defRPr sz="1400" b="1"/>
            </a:pPr>
            <a:r>
              <a:t>Market Access Barriers</a:t>
            </a:r>
          </a:p>
          <a:p>
            <a:pPr>
              <a:defRPr sz="1200"/>
            </a:pPr>
            <a:r>
              <a:t>• EU procurement restrictions blocking participation in tenders &gt;€5M with &gt;50% Chinese inputs</a:t>
            </a:r>
          </a:p>
          <a:p>
            <a:pPr>
              <a:defRPr sz="1200"/>
            </a:pPr>
            <a:r>
              <a:t>• EU push for supply chain localization increasing uncertainty for pure importers</a:t>
            </a:r>
          </a:p>
          <a:p>
            <a:pPr>
              <a:defRPr sz="1200"/>
            </a:pPr>
            <a:r>
              <a:t>• Fragmented reimbursement systems across EU member states requiring country-specific strategies</a:t>
            </a:r>
          </a:p>
          <a:p>
            <a:pPr>
              <a:defRPr sz="1400" b="1"/>
            </a:pPr>
            <a:r>
              <a:t>Competitive Challenges</a:t>
            </a:r>
          </a:p>
          <a:p>
            <a:pPr>
              <a:defRPr sz="1200"/>
            </a:pPr>
            <a:r>
              <a:t>• Trust deficit in high-end segments dominated by Roche, Siemens, Abbott</a:t>
            </a:r>
          </a:p>
          <a:p>
            <a:pPr>
              <a:defRPr sz="1200"/>
            </a:pPr>
            <a:r>
              <a:t>• Need for significant local KOL endorsement to displace established workflows</a:t>
            </a:r>
          </a:p>
          <a:p>
            <a:pPr>
              <a:defRPr sz="1200"/>
            </a:pPr>
            <a:r>
              <a:t>• Technical gap compared to global leaders in registration certificate footprint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[1] https://drive.google.com/file/d/1zt3vNjOlugypsvPkywduyWNRPGTHrsoj/view?usp=drive_link</a:t>
            </a:r>
          </a:p>
          <a:p>
            <a:pPr>
              <a:defRPr sz="1000" i="1"/>
            </a:pPr>
            <a:r>
              <a:t>[2] https://ec.europa.eu/commission/presscorner/detail/en/ip_25_1569</a:t>
            </a:r>
          </a:p>
          <a:p>
            <a:pPr>
              <a:defRPr sz="1000" i="1"/>
            </a:pPr>
            <a:r>
              <a:t>[4] https://en.caclp.com/industry-news/2365.html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Strategic Recommendations: Navigating the European IVD Market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Market Entry Strategy</a:t>
            </a:r>
          </a:p>
          <a:p>
            <a:pPr>
              <a:defRPr sz="1200"/>
            </a:pPr>
            <a:r>
              <a:t>• Focus on sub-€5M tenders and private sector deals to bypass procurement restrictions</a:t>
            </a:r>
          </a:p>
          <a:p>
            <a:pPr>
              <a:defRPr sz="1200"/>
            </a:pPr>
            <a:r>
              <a:t>• Utilize Eastern European countries (Hungary, Greece) as gateway markets for EU access</a:t>
            </a:r>
          </a:p>
          <a:p>
            <a:pPr>
              <a:defRPr sz="1200"/>
            </a:pPr>
            <a:r>
              <a:t>• Pursue German certification for enhanced brand credibility despite regulatory complexity</a:t>
            </a:r>
          </a:p>
          <a:p>
            <a:pPr>
              <a:defRPr sz="1400" b="1"/>
            </a:pPr>
            <a:r>
              <a:t>Operational Approach</a:t>
            </a:r>
          </a:p>
          <a:p>
            <a:pPr>
              <a:defRPr sz="1200"/>
            </a:pPr>
            <a:r>
              <a:t>• Acquire local European entities for established distribution and service capabilities</a:t>
            </a:r>
          </a:p>
          <a:p>
            <a:pPr>
              <a:defRPr sz="1200"/>
            </a:pPr>
            <a:r>
              <a:t>• Establish European manufacturing footprint to mitigate supply chain localization policies</a:t>
            </a:r>
          </a:p>
          <a:p>
            <a:pPr>
              <a:defRPr sz="1200"/>
            </a:pPr>
            <a:r>
              <a:t>• Develop local KOL relationships to build trust and overcome brand recognition deficit</a:t>
            </a:r>
          </a:p>
          <a:p>
            <a:pPr>
              <a:defRPr sz="1400" b="1"/>
            </a:pPr>
            <a:r>
              <a:t>Product &amp; Market Focus</a:t>
            </a:r>
          </a:p>
          <a:p>
            <a:pPr>
              <a:defRPr sz="1200"/>
            </a:pPr>
            <a:r>
              <a:t>• Target high-margin chemiluminescence and POCT segments with compact solutions</a:t>
            </a:r>
          </a:p>
          <a:p>
            <a:pPr>
              <a:defRPr sz="1200"/>
            </a:pPr>
            <a:r>
              <a:t>• Leverage emergency response capabilities for rapid market entry during health crises</a:t>
            </a:r>
          </a:p>
          <a:p>
            <a:pPr>
              <a:defRPr sz="1200"/>
            </a:pPr>
            <a:r>
              <a:t>• Balance cost-effectiveness with innovation to compete beyond price-sensitive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[1] https://drive.google.com/file/d/1zt3vNjOlugypsvPkywduyWNRPGTHrsoj/view?usp=drive_link</a:t>
            </a:r>
          </a:p>
          <a:p>
            <a:pPr>
              <a:defRPr sz="1000" i="1"/>
            </a:pPr>
            <a:r>
              <a:t>[2] https://ec.europa.eu/commission/presscorner/detail/en/ip_25_1569</a:t>
            </a:r>
          </a:p>
          <a:p>
            <a:pPr>
              <a:defRPr sz="1000" i="1"/>
            </a:pPr>
            <a:r>
              <a:t>[7] https://en.caclp.com/industry-news/3530.html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2060"/>
                </a:solidFill>
              </a:defRPr>
            </a:pPr>
            <a:r>
              <a:t>Conclusion: Strategic Imperatives for European IVD Market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Key Takeaways</a:t>
            </a:r>
          </a:p>
          <a:p>
            <a:pPr>
              <a:defRPr sz="1200"/>
            </a:pPr>
            <a:r>
              <a:t>• European IVD market offers high-value opportunity but requires navigating complex barriers</a:t>
            </a:r>
          </a:p>
          <a:p>
            <a:pPr>
              <a:defRPr sz="1200"/>
            </a:pPr>
            <a:r>
              <a:t>• IVDR compliance is table stakes but procurement restrictions create additional hurdles</a:t>
            </a:r>
          </a:p>
          <a:p>
            <a:pPr>
              <a:defRPr sz="1200"/>
            </a:pPr>
            <a:r>
              <a:t>• Chinese suppliers must transition from export model to localized presence for long-term success</a:t>
            </a:r>
          </a:p>
          <a:p>
            <a:pPr>
              <a:defRPr sz="1400" b="1"/>
            </a:pPr>
            <a:r>
              <a:t>Future Outlook</a:t>
            </a:r>
          </a:p>
          <a:p>
            <a:pPr>
              <a:defRPr sz="1200"/>
            </a:pPr>
            <a:r>
              <a:t>• Market shifting from simple export economics to deep localization requirements</a:t>
            </a:r>
          </a:p>
          <a:p>
            <a:pPr>
              <a:defRPr sz="1200"/>
            </a:pPr>
            <a:r>
              <a:t>• Companies with European acquisitions and local capabilities will gain competitive advantage</a:t>
            </a:r>
          </a:p>
          <a:p>
            <a:pPr>
              <a:defRPr sz="1200"/>
            </a:pPr>
            <a:r>
              <a:t>• Regulatory compliance and procurement restrictions may evolve based on trade reciprocity</a:t>
            </a:r>
          </a:p>
          <a:p>
            <a:pPr>
              <a:defRPr sz="1200"/>
            </a:pPr>
            <a:r>
              <a:t>• Innovation and quality improvements essential to overcome trust deficit in high-end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[1] https://drive.google.com/file/d/1zt3vNjOlugypsvPkywduyWNRPGTHrsoj/view?usp=drive_link</a:t>
            </a:r>
          </a:p>
          <a:p>
            <a:pPr>
              <a:defRPr sz="1000" i="1"/>
            </a:pPr>
            <a:r>
              <a:t>[2] https://ec.europa.eu/commission/presscorner/detail/en/ip_25_1569</a:t>
            </a:r>
          </a:p>
          <a:p>
            <a:pPr>
              <a:defRPr sz="1000" i="1"/>
            </a:pPr>
            <a:r>
              <a:t>[4] https://en.caclp.com/industry-news/2365.html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
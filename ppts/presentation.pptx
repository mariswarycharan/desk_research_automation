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4400">
                <a:solidFill>
                  <a:srgbClr val="002060"/>
                </a:solidFill>
              </a:defRPr>
            </a:pPr>
            <a:r>
              <a:t>Global Expansion of Chinese IVD Companies</a:t>
            </a:r>
          </a:p>
          <a:p>
            <a:pPr algn="ctr">
              <a:defRPr sz="2400">
                <a:solidFill>
                  <a:srgbClr val="595959"/>
                </a:solidFill>
              </a:defRPr>
            </a:pPr>
            <a:r>
              <a:t>European Market Entry Strategy, Regulatory Landscape, and Competitive Dynamics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Executive Summary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High-Value Opportunity: The European market represents a €1.65 trillion healthcare expenditure, offering mature pricing systems and stability compared to domestic Chinese markets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Regulatory Transition: The shift to IVDR is a critical barrier. Leading Chinese firms (Mindray, Snibe, Autobio) are successfully securing IVDR CE certifications to maintain and expand market access [2].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Geopolitical Headwinds: The EU Commission has restricted Chinese participation in public medical device tenders exceeding €5 million, mandating no more than 50% Chinese inputs, fundamentally altering large-scale procurement strategies [3].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Strategic Localization: To overcome a 'trust deficit' in high-end segments and build local service capabilities, Chinese leaders are aggressively pursuing M&amp;A (e.g., Mindray acquiring DiaSys and HyTest) [1, 4].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Financial Resilience: Despite a post-COVID market contraction, top-tier export-focused companies are seeing overseas revenue growth exceeding 20-30%, driven by heavy R&amp;D investment and cost-effectiveness [5].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https://en.caclp.com/industry-news/3530.html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[3] https://ec.europa.eu/commission/presscorner/detail/en/ip_25_1569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[4] https://en.caclp.com/industry-news/3349.html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[5] https://en.caclp.com/industry-news/2808.html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Agenda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914400" y="137160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1. Market Overview &amp; Growth Drivers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2. Financial Performance &amp; Industry Realignment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3. Geographic Focus: The European Opportunity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4. Regulatory Landscape: Navigating IVDR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5. Geopolitical Risks &amp; Procurement Restrictions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6. Access, Reimbursement &amp; Customer Receptivity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7. Competitive Landscape &amp; Key Metrics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8. Strategic M&amp;A and Localization</a:t>
            </a:r>
          </a:p>
          <a:p>
            <a:pPr>
              <a:spcAft>
                <a:spcPts val="1000"/>
              </a:spcAft>
              <a:defRPr sz="2000">
                <a:latin typeface="Arial"/>
              </a:defRPr>
            </a:pPr>
            <a:r>
              <a:t>9. Strategic Recommendations &amp;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Market Overview &amp; Growth Drivers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Domestic Push Factors: Intense domestic competition in China, driven by volume-based procurement (VBP) and healthcare reform, is forcing IVD companies to seek higher margins abroad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Global Pull Factors: The vast global market offers mature and stable pricing systems, providing financial stability and support for long-term enterprise development [2].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Cost-Effectiveness: Chinese medical devices hold a core competitive advantage in 'performance-to-cost' ratios, allowing for a substitution effect in international markets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Technological Advancement: The industry is shifting toward high-quality growth, integrating cutting-edge technologies like AI and automation to meet rising technical barriers [3].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Strategic Evolution: Companies are moving beyond the 'in China for China' approach, truly embracing 'in China for the world' through deep localization and global service networks [2].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https://en.caclp.com/industry-news/2365.html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[3] https://en.caclp.com/industry-news/3349.html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Financial Performance &amp; Industry Realignment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Post-COVID Contraction: In 2023, the Chinese IVD market quickly fell back to traditional non-COVID business. Total revenue for 59 main IVD listed companies dropped 53.26% year-on-year to CNY 108.44 billion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Profitability Decline: Net profit for these firms fell by approximately 84.5% in 2023 due to lingering cost burdens from pandemic-era expansions and tighter macroeconomic conditions [1, 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Resilience of Leaders: Despite the downturn, top players maintained growth. Mindray's net attributable profit has grown by more than 20% for six consecutive years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2024 Recovery via Exports: In 2024, companies with expanding overseas markets saw significant gains. Mindray's international IVD business grew by over 30% year-on-year, and Autobio's overseas revenue rose by 27.6% [2].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https://en.caclp.com/industry-news/2808.html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https://en.caclp.com/industry-news/3349.html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Geographic Focus: The European Opportunity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Massive Market Scale: Europe represents a €1.65 trillion healthcare expenditure market, with a high per capita spend of €3,685, making it a premium target for high-value diagnostics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Stable Pricing Environment: European member states offer mature pricing systems driven by public health insurance, balancing patient affordability with reasonable company profits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Strategic Gateways: Eastern European countries like Hungary and Greece are frequently utilized as initial gateways into the broader EU market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Brand Credibility: For Class III medical devices, Chinese companies prefer certification in strict regulatory environments like Germany and the Netherlands to establish strong brand credibility across the continent [1].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https://drive.google.com/file/d/1zt3vNjOlugypsvPkywduyWNRPGTHrsoj/view?usp=drive_link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Regulatory Landscape: Navigating IVDR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The 'Visa' to Europe: CE certification is the mandatory requirement for product access in the EU market. The transition to the In Vitro Diagnostic Medical Device Regulation (IVDR EU 2017/746) is the primary hurdle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Increased Complexity: The IVDR transition has lengthened the average CE certification process by 6 to 12 months, forcing over 30% of small and medium-sized enterprises out of the market [2].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Early Compliance: Leading Chinese firms have proactively secured IVDR certificates. Snibe has obtained IVDR CE certification for 211 chemiluminescence and 67 biochemical reagent products [3].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Environmental Standards: The EU enforces strict environmental requirements for raw materials (e.g., REACH regulation), requiring adjustments in R&amp;D and green supply chain management [2].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https://en.caclp.com/industry-news/1160.html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[3] https://en.caclp.com/industry-news/3530.html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Geopolitical Risks &amp; Procurement Restrictions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International Procurement Instrument (IPI): The European Commission has deployed the IPI to restrict Chinese participation in public procurement tenders for medical devices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The €5 Million Threshold: Chinese companies are excluded from EU government purchases of medical devices where the contract value exceeds €5 million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Supply Chain Mandates: Successful bids for these large public contracts must contain no more than 50% of inputs originating from China, impacting even non-Chinese firms relying on Chinese OEMs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Retaliatory Context: This measure is a direct response to findings that 87% of public procurement contracts for medical devices in China were subject to exclusionary practices against EU suppliers [1].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https://ec.europa.eu/commission/presscorner/detail/en/ip_25_1569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Access, Reimbursement &amp; Customer Receptivity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DRG-Based Systems: EU member states utilize a tiered reimbursement structure, heavily relying on Diagnosis-Related Groups (DRGs) at the base level, demanding strict long-term cost control from suppliers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Public Tender Dominance: Healthcare payments are predominantly government-funded. Success requires navigating complex public tender rules rather than targeting private out-of-pocket spending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The 'Trust Deficit': While Chinese devices win on price in low-to-mid-end segments, there is a distinct lack of brand trust in high-end products among European customers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Incumbent Dominance: The overseas IVD market remains dominated by international giants (Roche, Siemens, Abbott) with strong brands and advanced technologies, making workflow displacement difficult [1, 2].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https://en.caclp.com/industry-news/2365.html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Competitive Landscape: Global Registrations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Product registrations serve as a proxy for internationalization capability and regulatory readiness.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Despite rapid growth, top Chinese firms still trail legacy global leaders in total worldwide footprint [1].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828800" y="320040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429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Global Registration Certificates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Overseas Certificates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Mindray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3158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Maccura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2467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Snibe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1493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https://en.caclp.com/industry-news/2365.html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Strategic M&amp;A and Localization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Acquiring Local Credibility: Mindray acquired Germany-based DiaSys to strengthen local service capabilities and secure European distribution channels [1, 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Securing Upstream Supply: Mindray's 100% equity acquisition of Finland's HyTest filled critical gaps in upstream IVD raw materials, mitigating supply chain risks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Expanding Product Lines: Wondfo acquired Tisenc to expand its high-margin chemiluminescence (CLIA) business, targeting small to mid-size diagnostic centers with POCT analyzers [3].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Global Service Networks: Companies are shifting from pure export models to establishing localized production bases and service networks across over 150 countries [4].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https://en.caclp.com/industry-news/3349.html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[3] https://en.caclp.com/industry-news/1161.html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[4] https://en.caclp.com/industry-news/3530.html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Agility in Crisis: Rapid Response Capabilities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Speed to Market: Chinese IVD enterprises possess a significant competitive advantage in rapid R&amp;D and production scaling during global health emergencies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Monkeypox Response: By May 2022, over 40 Chinese IVD companies had successfully obtained EU CE certification for monkeypox virus nucleic acid detection kits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Gateway Strategy: Public health crises serve as an accelerated regulatory gateway, allowing a broad spectrum of Chinese manufacturers to prove technical compliance with European standards [1].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https://en.caclp.com/industry-news/1480.html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Key Metrics: Overseas Revenue Growth (2024)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Export-focused Chinese IVD companies demonstrated robust international growth in 2024, driven by continuous product innovation and expansion in diagnostic reagent categories [1].</a:t>
            </a:r>
          </a:p>
        </p:txBody>
      </p:sp>
      <p:pic>
        <p:nvPicPr>
          <p:cNvPr id="5" name="Picture 4" descr="ch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286000"/>
            <a:ext cx="7315200" cy="3657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https://en.caclp.com/industry-news/3349.html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Financial Highlights: Top Chinese IVD Companies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Despite broader industry contraction, top players maintain massive revenue bases, providing the capital liquidity required to fund expensive European expansion and M&amp;A campaigns [1, 2].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2743200"/>
          <a:ext cx="1127455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8184"/>
                <a:gridCol w="3758184"/>
                <a:gridCol w="3758184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Reported Revenue (CNY Billion)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Key Insight</a:t>
                      </a:r>
                    </a:p>
                  </a:txBody>
                  <a:tcPr>
                    <a:solidFill>
                      <a:srgbClr val="00206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Mindray (IVD Division)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13.76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Largest business segment; &gt;30% overseas growth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Dian Diagnostics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13.41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Top revenue generator in 2023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Runda Medical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9.15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Maintained strong top-line scale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KingMed Diagnostics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8.54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Arial"/>
                        </a:defRPr>
                      </a:pPr>
                      <a:r>
                        <a:t>Leading domestic diagnostic service provider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https://en.caclp.com/industry-news/2808.html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https://en.caclp.com/industry-news/3349.html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Key Metrics: R&amp;D Investment Intensity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To compete with entrenched European giants and overcome the 'trust deficit', Chinese leaders are heavily allocating capital toward innovation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Mindray reported a medical R&amp;D investment of RMB 1.030 billion in Q1 2024 alone, accounting for 10.99% of its operating income [1].</a:t>
            </a:r>
          </a:p>
        </p:txBody>
      </p:sp>
      <p:pic>
        <p:nvPicPr>
          <p:cNvPr id="5" name="Picture 4" descr="ch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3904" y="2743200"/>
            <a:ext cx="32004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https://en.caclp.com/industry-news/2785.html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Strategic Opportunities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Decentralized Testing (POCT): High demand exists for compact, rapid testing solutions in small to mid-sized diagnostic centers, avoiding direct competition in centralized high-volume labs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Chemiluminescence (CLIA): This segment offers the largest total market volume and highest profit margins. Chinese firms are rapidly securing IVDR CE marks for CLIA reagents [1, 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AI &amp; Automation: Integrating artificial intelligence and automated workflows aligns with European laboratory trends seeking labor-saving and efficiency-driving solutions [3].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Private Sector Focus: With public tenders over €5M restricted, targeting private hospital networks and smaller decentralized lab budgets offers a viable bypass strategy [4].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https://en.caclp.com/industry-news/1161.html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https://en.caclp.com/industry-news/3530.html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[3] https://en.caclp.com/industry-news/3349.html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[4] https://ec.europa.eu/commission/presscorner/detail/en/ip_25_1569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Risks &amp; Challenges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Geopolitical Exclusion: The IPI €5M public tender ban is a severe structural barrier, locking Chinese suppliers out of lucrative centralized lab consolidation deals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Regulatory Bottlenecks: The IVDR transition requires immense capital and time (extra 6-12 months), disproportionately impacting smaller Chinese entrants [2].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Supply Chain Localization: EU policies demanding local supply chains and strict environmental compliance (REACH) increase operational costs and uncertainty for pure exporters [2].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Incumbent Entrenchment: Displacing legacy systems from Roche, Siemens, and Abbott requires overcoming significant workflow inertia and local Key Opinion Leader (KOL) biases [2, 3].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https://ec.europa.eu/commission/presscorner/detail/en/ip_25_1569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[3] https://en.caclp.com/industry-news/2365.html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Strategic Recommendations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Accelerate European M&amp;A: Acquire local European entities (distributors, raw material suppliers) to bypass the 50% 'Chinese inputs' restriction and build immediate local service credibility [1, 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Pivot to Sub-€5M Tenders: Restructure sales strategies to target decentralized, smaller-scale public tenders or pivot aggressively toward private healthcare networks [2].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Leverage Gateway Geographies: Utilize Eastern European markets (Hungary, Greece) for initial commercial traction while securing strict German/Dutch certifications for brand halo effects [1].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Invest in KOL Networks: Allocate R&amp;D and marketing budgets to fund local European clinical trials and build relationships with Key Opinion Leaders to overcome the high-end trust deficit [1].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https://ec.europa.eu/commission/presscorner/detail/en/ip_25_1569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002060"/>
                </a:solidFill>
                <a:latin typeface="Arial"/>
              </a:defRPr>
            </a:pPr>
            <a:r>
              <a:t>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05840"/>
            <a:ext cx="11274552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1371600"/>
            <a:ext cx="1127455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The European IVD market presents a high-value but increasingly high-barrier environment for Chinese suppliers.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The era of simple export economics driven purely by cost-effectiveness is ending, replaced by a demand for deep localization, strict IVDR compliance, and sophisticated geopolitical maneuvering.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Well-capitalized leaders like Mindray, Snibe, and Autobio are successfully transitioning from 'In China for China' to 'In China for the World' through strategic M&amp;A and relentless R&amp;D investment.</a:t>
            </a:r>
          </a:p>
          <a:p>
            <a:pPr>
              <a:spcAft>
                <a:spcPts val="1000"/>
              </a:spcAft>
              <a:defRPr sz="1600">
                <a:latin typeface="Arial"/>
              </a:defRPr>
            </a:pPr>
            <a:r>
              <a:t>Future success in Europe hinges on bypassing public procurement restrictions via private sector engagement and localized supply chains.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[1] https://drive.google.com/file/d/1zt3vNjOlugypsvPkywduyWNRPGTHrsoj/view?usp=drive_link</a:t>
            </a:r>
          </a:p>
          <a:p>
            <a:pPr>
              <a:defRPr sz="900">
                <a:solidFill>
                  <a:srgbClr val="808080"/>
                </a:solidFill>
                <a:latin typeface="Arial"/>
              </a:defRPr>
            </a:pPr>
            <a:r>
              <a:t>[2] https://en.caclp.com/industry-news/2365.html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
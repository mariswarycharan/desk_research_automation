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914400"/>
            <a:ext cx="7315200" cy="914400"/>
          </a:xfrm>
          <a:prstGeom prst="rect">
            <a:avLst/>
          </a:prstGeom>
          <a:noFill/>
        </p:spPr>
        <p:txBody>
          <a:bodyPr wrap="none">
            <a:spAutoFit/>
          </a:bodyPr>
          <a:lstStyle/>
          <a:p>
            <a:pPr algn="ctr"/>
            <a:r>
              <a:rPr sz="3200" b="1">
                <a:latin typeface="Calibri"/>
              </a:rPr>
              <a:t>Expansion Potential of Chinese IVD Suppliers in Europe</a:t>
            </a:r>
          </a:p>
        </p:txBody>
      </p:sp>
      <p:sp>
        <p:nvSpPr>
          <p:cNvPr id="3" name="TextBox 2"/>
          <p:cNvSpPr txBox="1"/>
          <p:nvPr/>
        </p:nvSpPr>
        <p:spPr>
          <a:xfrm>
            <a:off x="914400" y="2011680"/>
            <a:ext cx="7315200" cy="548640"/>
          </a:xfrm>
          <a:prstGeom prst="rect">
            <a:avLst/>
          </a:prstGeom>
          <a:noFill/>
        </p:spPr>
        <p:txBody>
          <a:bodyPr wrap="none">
            <a:spAutoFit/>
          </a:bodyPr>
          <a:lstStyle/>
          <a:p>
            <a:pPr algn="ctr"/>
            <a:r>
              <a:rPr sz="2000" b="0">
                <a:latin typeface="Calibri"/>
              </a:rPr>
              <a:t>Strategic Assessment – Senior Strategic Analyst, Global Diagnostics</a:t>
            </a:r>
          </a:p>
        </p:txBody>
      </p:sp>
      <p:sp>
        <p:nvSpPr>
          <p:cNvPr id="4" name="TextBox 3"/>
          <p:cNvSpPr txBox="1"/>
          <p:nvPr/>
        </p:nvSpPr>
        <p:spPr>
          <a:xfrm>
            <a:off x="914400" y="6400800"/>
            <a:ext cx="7315200" cy="457200"/>
          </a:xfrm>
          <a:prstGeom prst="rect">
            <a:avLst/>
          </a:prstGeom>
          <a:noFill/>
        </p:spPr>
        <p:txBody>
          <a:bodyPr wrap="none">
            <a:spAutoFit/>
          </a:bodyPr>
          <a:lstStyle/>
          <a:p>
            <a:pPr algn="ctr"/>
            <a:r>
              <a:rPr sz="1200" b="0">
                <a:latin typeface="Calibri"/>
              </a:rPr>
              <a:t>April 16,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lgn="l"/>
            <a:r>
              <a:rPr sz="2800" b="1">
                <a:latin typeface="Calibri"/>
              </a:rPr>
              <a:t>Key Market Insights</a:t>
            </a:r>
          </a:p>
        </p:txBody>
      </p:sp>
      <p:sp>
        <p:nvSpPr>
          <p:cNvPr id="3" name="TextBox 2"/>
          <p:cNvSpPr txBox="1"/>
          <p:nvPr/>
        </p:nvSpPr>
        <p:spPr>
          <a:xfrm>
            <a:off x="640080" y="1005840"/>
            <a:ext cx="8229600" cy="4572000"/>
          </a:xfrm>
          <a:prstGeom prst="rect">
            <a:avLst/>
          </a:prstGeom>
          <a:noFill/>
        </p:spPr>
        <p:txBody>
          <a:bodyPr wrap="square" bIns="0" lIns="0" rIns="0" tIns="0">
            <a:spAutoFit/>
          </a:bodyPr>
          <a:lstStyle/>
          <a:p/>
          <a:p>
            <a:pPr algn="l">
              <a:spcBef>
                <a:spcPts val="300"/>
              </a:spcBef>
              <a:spcAft>
                <a:spcPts val="300"/>
              </a:spcAft>
              <a:defRPr sz="1400">
                <a:latin typeface="Calibri"/>
              </a:defRPr>
            </a:pPr>
            <a:r>
              <a:t>Geography: EU coverage includes France, Germany, United Kingdom, Netherlands, Belgium, Switzerland, Greece, Hungary, Turkey, Norway, Iceland, Liechtenstein, Russia; Hungary and Greece act as entry gateways.</a:t>
            </a:r>
          </a:p>
          <a:p>
            <a:pPr algn="l">
              <a:spcBef>
                <a:spcPts val="300"/>
              </a:spcBef>
              <a:spcAft>
                <a:spcPts val="300"/>
              </a:spcAft>
              <a:defRPr sz="1400">
                <a:latin typeface="Calibri"/>
              </a:defRPr>
            </a:pPr>
            <a:r>
              <a:t>Companies: Chinese IVD players – Mindray, Snibe, Andon Health, United Imaging, Edan Instruments, Wego, Yuwell, Lepu Medical, Autobio, Fapon Biotech, Vazyme, BGI, Novogene, Jincheng Pharma, Orient Gene, Hotgen Biotech, All Test, HyTest (acquired by Mindray), DiaSys (acquired by Mindray).</a:t>
            </a:r>
          </a:p>
          <a:p>
            <a:pPr algn="l">
              <a:spcBef>
                <a:spcPts val="300"/>
              </a:spcBef>
              <a:spcAft>
                <a:spcPts val="300"/>
              </a:spcAft>
              <a:defRPr sz="1400">
                <a:latin typeface="Calibri"/>
              </a:defRPr>
            </a:pPr>
            <a:r>
              <a:t>Access &amp; Reimbursement: EU relies on public‑tender and DRG‑based reimbursement; tiered structure rewards innovative, clinically‑validated diagnostics.</a:t>
            </a:r>
          </a:p>
          <a:p>
            <a:pPr algn="l">
              <a:spcBef>
                <a:spcPts val="300"/>
              </a:spcBef>
              <a:spcAft>
                <a:spcPts val="300"/>
              </a:spcAft>
              <a:defRPr sz="1400">
                <a:latin typeface="Calibri"/>
              </a:defRPr>
            </a:pPr>
            <a:r>
              <a:t>Budget: €1.65 trillion total healthcare spend; €3,685 per‑capita expenditure signals large, publicly funded market.</a:t>
            </a:r>
          </a:p>
          <a:p>
            <a:pPr algn="l">
              <a:spcBef>
                <a:spcPts val="300"/>
              </a:spcBef>
              <a:spcAft>
                <a:spcPts val="300"/>
              </a:spcAft>
              <a:defRPr sz="1400">
                <a:latin typeface="Calibri"/>
              </a:defRPr>
            </a:pPr>
            <a:r>
              <a:t>Regulatory: IVDR/MDR enforcement; certification timelines extended 6‑12 months; transition period now 2027‑2028; REACH adds environmental compliance requirements.</a:t>
            </a:r>
          </a:p>
          <a:p>
            <a:pPr algn="l">
              <a:spcBef>
                <a:spcPts val="300"/>
              </a:spcBef>
              <a:spcAft>
                <a:spcPts val="300"/>
              </a:spcAft>
              <a:defRPr sz="1400">
                <a:latin typeface="Calibri"/>
              </a:defRPr>
            </a:pPr>
            <a:r>
              <a:t>Customer Receptivity: Strong price sensitivity; brand‑trust deficit for high‑end Chinese IVDs; cost‑effectiveness offers advantage in low‑mid tier segments.</a:t>
            </a:r>
          </a:p>
          <a:p>
            <a:pPr algn="l">
              <a:spcBef>
                <a:spcPts val="300"/>
              </a:spcBef>
              <a:spcAft>
                <a:spcPts val="300"/>
              </a:spcAft>
              <a:defRPr sz="1400">
                <a:latin typeface="Calibri"/>
              </a:defRPr>
            </a:pPr>
            <a:r>
              <a:t>Strategic Opportunities: M&amp;A to gain local regulatory footholds (DiaSys, HyTest); use gateway markets (Hungary, Greece) for EU‑certified entry; consider local production or JV to address supply‑chain localisation policies.</a:t>
            </a:r>
          </a:p>
          <a:p>
            <a:pPr algn="l">
              <a:spcBef>
                <a:spcPts val="300"/>
              </a:spcBef>
              <a:spcAft>
                <a:spcPts val="300"/>
              </a:spcAft>
              <a:defRPr sz="1400">
                <a:latin typeface="Calibri"/>
              </a:defRPr>
            </a:pPr>
            <a:r>
              <a:t>Risks/Challenges: Brand perception, longer and cost‑intensive certification, REACH compliance, potential supply‑chain restrictions, data gaps on market share and private‑sector dynamics.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
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Chinese IVD Expansion in European Markets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Analysis and Market Entry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Summary: High-Value Market with Significant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• European IVD market represents €12.9B+ opportunity with substantial government-funded healthcare spending</a:t>
            </a:r>
          </a:p>
          <a:p>
            <a:pPr>
              <a:defRPr sz="1400"/>
            </a:pPr>
            <a:r>
              <a:t>• Chinese suppliers face complex regulatory barriers (IVDR transition) and new procurement restrictions (IPI)</a:t>
            </a:r>
          </a:p>
          <a:p>
            <a:pPr>
              <a:defRPr sz="1400"/>
            </a:pPr>
            <a:r>
              <a:t>• Leading Chinese players (Mindray, Snibe, Autobio) demonstrate regulatory compliance and financial strength</a:t>
            </a:r>
          </a:p>
          <a:p>
            <a:pPr>
              <a:defRPr sz="1400"/>
            </a:pPr>
            <a:r>
              <a:t>• Market entry requires localization strategy, navigating country-specific reimbursement systems, and overcoming trust deficit</a:t>
            </a:r>
          </a:p>
          <a:p>
            <a:pPr>
              <a:defRPr sz="1400"/>
            </a:pPr>
            <a:r>
              <a:t>• Strategic acquisitions and partnerships critical for European market penetration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[1] https://drive.google.com/file/d/1zt3vNjOlugypsvPkywduyWNRPGTHrsoj/view?usp=drive_link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Market Overview &amp; Key Metrics</a:t>
            </a:r>
          </a:p>
          <a:p>
            <a:pPr>
              <a:defRPr sz="1600"/>
            </a:pPr>
            <a:r>
              <a:t>Regulatory Landscape Analysis</a:t>
            </a:r>
          </a:p>
          <a:p>
            <a:pPr>
              <a:defRPr sz="1600"/>
            </a:pPr>
            <a:r>
              <a:t>Competitive Positioning</a:t>
            </a:r>
          </a:p>
          <a:p>
            <a:pPr>
              <a:defRPr sz="1600"/>
            </a:pPr>
            <a:r>
              <a:t>Access &amp; Reimbursement Framework</a:t>
            </a:r>
          </a:p>
          <a:p>
            <a:pPr>
              <a:defRPr sz="1600"/>
            </a:pPr>
            <a:r>
              <a:t>Strategic Opportunities &amp; Risks</a:t>
            </a:r>
          </a:p>
          <a:p>
            <a:pPr>
              <a:defRPr sz="1600"/>
            </a:pPr>
            <a:r>
              <a:t>Recommendations for Market Entry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European IVD Market: Substantial Opportunity with Complex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Market Size &amp; Structure</a:t>
            </a:r>
          </a:p>
          <a:p>
            <a:pPr>
              <a:defRPr sz="1400"/>
            </a:pPr>
            <a:r>
              <a:t>• Germany: €12.9B annual IVD expenditure, 2.6% of total healthcare costs</a:t>
            </a:r>
          </a:p>
          <a:p>
            <a:pPr>
              <a:defRPr sz="1400"/>
            </a:pPr>
            <a:r>
              <a:t>• Per capita spending: €150 annually in Germany</a:t>
            </a:r>
          </a:p>
          <a:p>
            <a:pPr>
              <a:defRPr sz="1400"/>
            </a:pPr>
            <a:r>
              <a:t>• 55% growth in lab spending (2012-2022) vs 63% overall health expenditure growth</a:t>
            </a:r>
          </a:p>
          <a:p>
            <a:pPr>
              <a:defRPr sz="1400"/>
            </a:pPr>
            <a:r>
              <a:t>• Market dominated by large commercial laboratory networks</a:t>
            </a:r>
          </a:p>
          <a:p>
            <a:pPr>
              <a:defRPr sz="1600" b="1"/>
            </a:pPr>
            <a:r>
              <a:t>Key Market Trends</a:t>
            </a:r>
          </a:p>
          <a:p>
            <a:pPr>
              <a:defRPr sz="1400"/>
            </a:pPr>
            <a:r>
              <a:t>• Consolidation: Under 20% of clinics maintain own laboratory infrastructure</a:t>
            </a:r>
          </a:p>
          <a:p>
            <a:pPr>
              <a:defRPr sz="1400"/>
            </a:pPr>
            <a:r>
              <a:t>• POCT growth driven by technical personnel shortages and infrastructure decline</a:t>
            </a:r>
          </a:p>
          <a:p>
            <a:pPr>
              <a:defRPr sz="1400"/>
            </a:pPr>
            <a:r>
              <a:t>• Therapeutic Drug Monitoring emerging as growth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[1] https://journals.publisso.de/en/journals/gms/volume23/000337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Landscape: IVDR Compliance and Geopolitical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IVDR Transition Challenges</a:t>
            </a:r>
          </a:p>
          <a:p>
            <a:pPr>
              <a:defRPr sz="1400"/>
            </a:pPr>
            <a:r>
              <a:t>• Transition to IVDR extended to 2027-2028 with stricter compliance requirements</a:t>
            </a:r>
          </a:p>
          <a:p>
            <a:pPr>
              <a:defRPr sz="1400"/>
            </a:pPr>
            <a:r>
              <a:t>• Certification process lengthened by 6-12 months, forcing out 30%+ of SMEs</a:t>
            </a:r>
          </a:p>
          <a:p>
            <a:pPr>
              <a:defRPr sz="1400"/>
            </a:pPr>
            <a:r>
              <a:t>• Environmental regulations (REACH) add compliance complexity for reagents</a:t>
            </a:r>
          </a:p>
          <a:p>
            <a:pPr>
              <a:defRPr sz="1600" b="1"/>
            </a:pPr>
            <a:r>
              <a:t>International Procurement Instrument (IPI)</a:t>
            </a:r>
          </a:p>
          <a:p>
            <a:pPr>
              <a:defRPr sz="1400"/>
            </a:pPr>
            <a:r>
              <a:t>• Effective June 2025: Bans Chinese companies from public contracts &gt;€5M</a:t>
            </a:r>
          </a:p>
          <a:p>
            <a:pPr>
              <a:defRPr sz="1400"/>
            </a:pPr>
            <a:r>
              <a:t>• Limits Chinese component usage to 50% maximum in successful bids</a:t>
            </a:r>
          </a:p>
          <a:p>
            <a:pPr>
              <a:defRPr sz="1400"/>
            </a:pPr>
            <a:r>
              <a:t>• Exceptions only where no alternative suppliers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[1] https://drive.google.com/file/d/1zt3vNjOlugypsvPkywduyWNRPGTHrsoj/view?usp=drive_link [2] https://ec.europa.eu/commission/presscorner/detail/en/ip_25_1569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Landscape: Chinese Suppliers Gaining 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Regulatory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Financial 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Market Strategy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Mindray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IVDR certified, HyTest acquisition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11.58B CNY net profit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Localization via acquisitions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Snibe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211 chemiluminescence IVDR certificates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16.62% revenue growth (Q1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Distributor network in 18 countries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Autobio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IVDR certified, Sekisui partnership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Positive net profit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Strategic partnerships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Wondfo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IVDR QMS certified, 150+ countries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Global manufacturing footprint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POCT focus, acquisitions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[1] https://en.caclp.com/industry-news/3530.html [2] https://en.caclp.com/industry-news/2785.html [3] https://en.caclp.com/industry-news/3349.html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Registration Gap: Chinese Suppliers vs Global Leaders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[1] https://en.caclp.com/industry-news/2365.html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&amp; Reimbursement: Fragmented European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Country-Specific Systems</a:t>
            </a:r>
          </a:p>
          <a:p>
            <a:pPr>
              <a:defRPr sz="1400"/>
            </a:pPr>
            <a:r>
              <a:t>• Germany: EBM catalog for outpatient, DRG-based for inpatient</a:t>
            </a:r>
          </a:p>
          <a:p>
            <a:pPr>
              <a:defRPr sz="1400"/>
            </a:pPr>
            <a:r>
              <a:t>• France: NABM system with innovative LAHN pathway</a:t>
            </a:r>
          </a:p>
          <a:p>
            <a:pPr>
              <a:defRPr sz="1400"/>
            </a:pPr>
            <a:r>
              <a:t>• Italy: LEA catalog with defined tariffs</a:t>
            </a:r>
          </a:p>
          <a:p>
            <a:pPr>
              <a:defRPr sz="1400"/>
            </a:pPr>
            <a:r>
              <a:t>• Spain: Global budget funding, no dedicated reimbursement</a:t>
            </a:r>
          </a:p>
          <a:p>
            <a:pPr>
              <a:defRPr sz="1400"/>
            </a:pPr>
            <a:r>
              <a:t>• UK: NHS Payment Scheme, Medtech Funding Mandate</a:t>
            </a:r>
          </a:p>
          <a:p>
            <a:pPr>
              <a:defRPr sz="1600" b="1"/>
            </a:pPr>
            <a:r>
              <a:t>Key Challenges</a:t>
            </a:r>
          </a:p>
          <a:p>
            <a:pPr>
              <a:defRPr sz="1400"/>
            </a:pPr>
            <a:r>
              <a:t>• Fixed prices without inflation adjustment (Germany)</a:t>
            </a:r>
          </a:p>
          <a:p>
            <a:pPr>
              <a:defRPr sz="1400"/>
            </a:pPr>
            <a:r>
              <a:t>• Manufacturer-triggered reimbursement code creation</a:t>
            </a:r>
          </a:p>
          <a:p>
            <a:pPr>
              <a:defRPr sz="1400"/>
            </a:pPr>
            <a:r>
              <a:t>• HTA requirements vary by country and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[1] https://mtrconsult.com/general-market-access-landscape-vitro-diagnostic-tests-europe [2] https://journals.publisso.de/en/journals/gms/volume23/000337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Analysis: Cost Pressures Drive Value Seeking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Funding 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Cost Pressure Factors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Global budgets, DRG-based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Fixed prices, efficiency bonus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NABM with point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Innovation funding constraints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Regional global budgets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No dedicated reimbursement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NHS Payment Scheme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Medtech Funding Mandate limits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• Laboratories operate under severe cost constraints, creating demand for cost-effective solutions</a:t>
            </a:r>
          </a:p>
          <a:p>
            <a:pPr>
              <a:defRPr sz="1200"/>
            </a:pPr>
            <a:r>
              <a:t>• Chinese suppliers must demonstrate significant cost advantages over incumbents</a:t>
            </a:r>
          </a:p>
          <a:p>
            <a:pPr>
              <a:defRPr sz="1200"/>
            </a:pPr>
            <a:r>
              <a:t>• Value proposition must align with hospital budget optimization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[1] https://mtrconsult.com/general-market-access-landscape-vitro-diagnostic-tests-europe [2] https://journals.publisso.de/en/journals/gms/volume23/000337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Receptivity: Trust Deficit vs Cost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Adoption Challenges</a:t>
            </a:r>
          </a:p>
          <a:p>
            <a:pPr>
              <a:defRPr sz="1400"/>
            </a:pPr>
            <a:r>
              <a:t>• Low brand recognition for high-end products in developed markets</a:t>
            </a:r>
          </a:p>
          <a:p>
            <a:pPr>
              <a:defRPr sz="1400"/>
            </a:pPr>
            <a:r>
              <a:t>• Market dominated by entrenched Western incumbents (Roche, Siemens, Abbott)</a:t>
            </a:r>
          </a:p>
          <a:p>
            <a:pPr>
              <a:defRPr sz="1400"/>
            </a:pPr>
            <a:r>
              <a:t>• Trust deficit hampers adoption of high-end IVD solutions</a:t>
            </a:r>
          </a:p>
          <a:p>
            <a:pPr>
              <a:defRPr sz="1600" b="1"/>
            </a:pPr>
            <a:r>
              <a:t>Competitive Advantages</a:t>
            </a:r>
          </a:p>
          <a:p>
            <a:pPr>
              <a:defRPr sz="1400"/>
            </a:pPr>
            <a:r>
              <a:t>• Strong price competitiveness and cost-effectiveness</a:t>
            </a:r>
          </a:p>
          <a:p>
            <a:pPr>
              <a:defRPr sz="1400"/>
            </a:pPr>
            <a:r>
              <a:t>• Performance-to-cost differentiation strategy</a:t>
            </a:r>
          </a:p>
          <a:p>
            <a:pPr>
              <a:defRPr sz="1400"/>
            </a:pPr>
            <a:r>
              <a:t>• Successful adoption in price-sensitive segments and emerging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[1] https://drive.google.com/file/d/1zt3vNjOlugypsvPkywduyWNRPGTHrsoj/view?usp=drive_link [2] https://en.caclp.com/industry-news/2365.html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Opportunities: Pathways to Market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Market Entry Strategies</a:t>
            </a:r>
          </a:p>
          <a:p>
            <a:pPr>
              <a:defRPr sz="1400"/>
            </a:pPr>
            <a:r>
              <a:t>• Utilize Eastern European countries (Hungary, Greece) as gateways to EU market</a:t>
            </a:r>
          </a:p>
          <a:p>
            <a:pPr>
              <a:defRPr sz="1400"/>
            </a:pPr>
            <a:r>
              <a:t>• Leverage German certification for enhanced brand credibility</a:t>
            </a:r>
          </a:p>
          <a:p>
            <a:pPr>
              <a:defRPr sz="1400"/>
            </a:pPr>
            <a:r>
              <a:t>• Focus on POCT and decentralized testing segments</a:t>
            </a:r>
          </a:p>
          <a:p>
            <a:pPr>
              <a:defRPr sz="1600" b="1"/>
            </a:pPr>
            <a:r>
              <a:t>Strategic Partnerships &amp; Acquisitions</a:t>
            </a:r>
          </a:p>
          <a:p>
            <a:pPr>
              <a:defRPr sz="1400"/>
            </a:pPr>
            <a:r>
              <a:t>• Acquire European companies for local presence (Mindray-DiaSys model)</a:t>
            </a:r>
          </a:p>
          <a:p>
            <a:pPr>
              <a:defRPr sz="1400"/>
            </a:pPr>
            <a:r>
              <a:t>• Secure upstream raw materials through acquisitions (HyTest strategy)</a:t>
            </a:r>
          </a:p>
          <a:p>
            <a:pPr>
              <a:defRPr sz="1400"/>
            </a:pPr>
            <a:r>
              <a:t>• Establish local manufacturing to bypass IPI restrictions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[1] https://drive.google.com/file/d/1zt3vNjOlugypsvPkywduyWNRPGTHrsoj/view?usp=drive_link [2] https://hytest.fi/news/mindray-completes-acquisition-of-hytest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Challenges: Navigating Complex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6096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Risk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Specific Challenges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Regulatory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IVDR compliance costs, IPI restrictions, REACH environmental rules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Market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Country-specific reimbursement systems, HTA requirements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Competitive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Entrenched incumbents, trust deficit in high-end segments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Operational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Supply chain localization requirements, skilled workforce shortages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Geopolitical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t>Trade tensions, reciprocity requirements, policy changes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[1] https://ec.europa.eu/commission/presscorner/detail/en/ip_25_1569 [2] https://mtrconsult.com/general-market-access-landscape-vitro-diagnostic-tests-europe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Performance: Export-Focused Companies Outperforming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[1] https://en.caclp.com/industry-news/2808.html [2] https://en.caclp.com/industry-news/2785.html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 for Market Entry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Immediate Priorities (0-12 months)</a:t>
            </a:r>
          </a:p>
          <a:p>
            <a:pPr>
              <a:defRPr sz="1400"/>
            </a:pPr>
            <a:r>
              <a:t>• Establish local EU manufacturing/JVs to bypass IPI restrictions</a:t>
            </a:r>
          </a:p>
          <a:p>
            <a:pPr>
              <a:defRPr sz="1400"/>
            </a:pPr>
            <a:r>
              <a:t>• Secure full IVDR certification for complete product portfolios</a:t>
            </a:r>
          </a:p>
          <a:p>
            <a:pPr>
              <a:defRPr sz="1400"/>
            </a:pPr>
            <a:r>
              <a:t>• Develop country-specific HTA and reimbursement dossiers</a:t>
            </a:r>
          </a:p>
          <a:p>
            <a:pPr>
              <a:defRPr sz="1600" b="1"/>
            </a:pPr>
            <a:r>
              <a:t>Medium-Term Strategy (1-3 years)</a:t>
            </a:r>
          </a:p>
          <a:p>
            <a:pPr>
              <a:defRPr sz="1400"/>
            </a:pPr>
            <a:r>
              <a:t>• Acquire European distributors or establish direct sales force</a:t>
            </a:r>
          </a:p>
          <a:p>
            <a:pPr>
              <a:defRPr sz="1400"/>
            </a:pPr>
            <a:r>
              <a:t>• Build local service and support capabilities across key markets</a:t>
            </a:r>
          </a:p>
          <a:p>
            <a:pPr>
              <a:defRPr sz="1400"/>
            </a:pPr>
            <a:r>
              <a:t>• Develop innovative payment models for cost-constrained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[1] https://www.ainvest.com/news/frontier-medtech-navigating-china-eu-trade-tensions-investment-gains-2507/ [2] https://mtrconsult.com/general-market-access-landscape-vitro-diagnostic-tests-europe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Strategic Imperatives for European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Key Success Factors</a:t>
            </a:r>
          </a:p>
          <a:p>
            <a:pPr>
              <a:defRPr sz="1400"/>
            </a:pPr>
            <a:r>
              <a:t>• Localization is non-negotiable: manufacturing, service, and compliance</a:t>
            </a:r>
          </a:p>
          <a:p>
            <a:pPr>
              <a:defRPr sz="1400"/>
            </a:pPr>
            <a:r>
              <a:t>• Focus on cost-advantaged segments while building high-end credibility</a:t>
            </a:r>
          </a:p>
          <a:p>
            <a:pPr>
              <a:defRPr sz="1400"/>
            </a:pPr>
            <a:r>
              <a:t>• Navigate country-specific reimbursement systems with tailored strategies</a:t>
            </a:r>
          </a:p>
          <a:p>
            <a:pPr>
              <a:defRPr sz="1600" b="1"/>
            </a:pPr>
            <a:r>
              <a:t>Future Outlook</a:t>
            </a:r>
          </a:p>
          <a:p>
            <a:pPr>
              <a:defRPr sz="1400"/>
            </a:pPr>
            <a:r>
              <a:t>• Chinese suppliers well-positioned for mid-market segments</a:t>
            </a:r>
          </a:p>
          <a:p>
            <a:pPr>
              <a:defRPr sz="1400"/>
            </a:pPr>
            <a:r>
              <a:t>• Regulatory compliance becoming key differentiator</a:t>
            </a:r>
          </a:p>
          <a:p>
            <a:pPr>
              <a:defRPr sz="1400"/>
            </a:pPr>
            <a:r>
              <a:t>• Market share gains expected in cost-sensitive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[1] https://drive.google.com/file/d/1zt3vNjOlugypsvPkywduyWNRPGTHrsoj/view?usp=drive_link [2] https://www.ainvest.com/news/frontier-medtech-navigating-china-eu-trade-tensions-investment-gains-2507/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
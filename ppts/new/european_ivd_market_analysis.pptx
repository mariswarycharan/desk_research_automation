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>
                <a:solidFill>
                  <a:srgbClr val="002060"/>
                </a:solidFill>
              </a:defRPr>
            </a:pPr>
            <a:r>
              <a:t>European IVD Market Expansion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F81BD"/>
                </a:solidFill>
              </a:defRPr>
            </a:pPr>
            <a:r>
              <a:t>Chinese Supplier Landscape Analysis</a:t>
            </a:r>
          </a:p>
          <a:p>
            <a:r>
              <a:t>2025 Market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Strategic Imperative: Chinese IVD Suppliers Face Regulatory Hurdles and Geopolitical Barriers in European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 b="1"/>
            </a:pPr>
            <a:r>
              <a:t>• European IVD market valued at €12.9B annually with 2.6% of total healthcare expenditure</a:t>
            </a:r>
          </a:p>
          <a:p>
            <a:pPr>
              <a:defRPr sz="1200"/>
            </a:pPr>
            <a:r>
              <a:t>• Chinese suppliers face €5M tender restriction under IPI regulations effective June 2025</a:t>
            </a:r>
          </a:p>
          <a:p>
            <a:pPr>
              <a:defRPr sz="1200"/>
            </a:pPr>
            <a:r>
              <a:t>• IVDR certification achieved by leading players (Mindray, Snibe, Autobio) but market access remains complex</a:t>
            </a:r>
          </a:p>
          <a:p>
            <a:pPr>
              <a:defRPr sz="1200"/>
            </a:pPr>
            <a:r>
              <a:t>• Customer receptivity remains divided: cost-advantage in mid-tier segments, trust deficit in high-end solutions</a:t>
            </a:r>
          </a:p>
          <a:p>
            <a:pPr>
              <a:defRPr sz="1200"/>
            </a:pPr>
            <a:r>
              <a:t>• Strategic acquisitions (HyTest, DiaSys) critical for supply chain localization and market credibility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[1] https://docs.google.com/document/d/1KWqiQRt4NvZuv2_3GC2UQWi7agGABNUshk7Pk_lRDTM/edit?tab=t.fxko5jhzd3mf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Agenda: Comprehensive Market Assessment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• Market Overview &amp; Size Assessment</a:t>
            </a:r>
          </a:p>
          <a:p>
            <a:pPr>
              <a:defRPr sz="1400"/>
            </a:pPr>
            <a:r>
              <a:t>• Regulatory Landscape Analysis</a:t>
            </a:r>
          </a:p>
          <a:p>
            <a:pPr>
              <a:defRPr sz="1400"/>
            </a:pPr>
            <a:r>
              <a:t>• Competitive Positioning</a:t>
            </a:r>
          </a:p>
          <a:p>
            <a:pPr>
              <a:defRPr sz="1400"/>
            </a:pPr>
            <a:r>
              <a:t>• Access &amp; Reimbursement Framework</a:t>
            </a:r>
          </a:p>
          <a:p>
            <a:pPr>
              <a:defRPr sz="1400"/>
            </a:pPr>
            <a:r>
              <a:t>• Budget Allocation Patterns</a:t>
            </a:r>
          </a:p>
          <a:p>
            <a:pPr>
              <a:defRPr sz="1400"/>
            </a:pPr>
            <a:r>
              <a:t>• Customer Receptivity Mapping</a:t>
            </a:r>
          </a:p>
          <a:p>
            <a:pPr>
              <a:defRPr sz="1400"/>
            </a:pPr>
            <a:r>
              <a:t>• Strategic Opportunities</a:t>
            </a:r>
          </a:p>
          <a:p>
            <a:pPr>
              <a:defRPr sz="1400"/>
            </a:pPr>
            <a:r>
              <a:t>• Risk Assessment</a:t>
            </a:r>
          </a:p>
          <a:p>
            <a:pPr>
              <a:defRPr sz="1400"/>
            </a:pPr>
            <a:r>
              <a:t>•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Market Overview: European IVD Represents Significant Opportunity with Structural Complexities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• Total market size: €12.9B annually across European Union</a:t>
            </a:r>
          </a:p>
          <a:p>
            <a:pPr>
              <a:defRPr sz="1200"/>
            </a:pPr>
            <a:r>
              <a:t>• Per capita expenditure: €150 annually in Germany</a:t>
            </a:r>
          </a:p>
          <a:p>
            <a:pPr>
              <a:defRPr sz="1200"/>
            </a:pPr>
            <a:r>
              <a:t>• Market concentration: 55% controlled by commercial laboratory chains</a:t>
            </a:r>
          </a:p>
          <a:p>
            <a:pPr>
              <a:defRPr sz="1200"/>
            </a:pPr>
            <a:r>
              <a:t>• Growth drivers: Aging population, chronic disease prevalence, technological innovation</a:t>
            </a:r>
          </a:p>
          <a:p>
            <a:pPr>
              <a:defRPr sz="1200"/>
            </a:pPr>
            <a:r>
              <a:t>• Chinese export growth: Doubled between 2015-2023 before IPI restrictions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[1] https://docs.google.com/document/d/1KWqiQRt4NvZuv2_3GC2UQWi7agGABNUshk7Pk_lRDTM/edit?tab=t.fxko5jhzd3mf</a:t>
            </a:r>
          </a:p>
          <a:p>
            <a:pPr>
              <a:defRPr sz="800" i="1"/>
            </a:pPr>
            <a:r>
              <a:t>[2] https://ec.europa.eu/commission/presscorner/detail/en/ip_25_1569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Regulatory Landscape: IVDR Certification Achieved but IPI Creates New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• IVDR compliance: Mindray, Snibe, Autobio achieved certification for 4,001+ products</a:t>
            </a:r>
          </a:p>
          <a:p>
            <a:pPr>
              <a:defRPr sz="1200"/>
            </a:pPr>
            <a:r>
              <a:t>• IPI restrictions: Chinese firms barred from public tenders exceeding €5M effective June 2025</a:t>
            </a:r>
          </a:p>
          <a:p>
            <a:pPr>
              <a:defRPr sz="1200"/>
            </a:pPr>
            <a:r>
              <a:t>• Component limitation: Maximum 50% Chinese content in successful bids</a:t>
            </a:r>
          </a:p>
          <a:p>
            <a:pPr>
              <a:defRPr sz="1200"/>
            </a:pPr>
            <a:r>
              <a:t>• Certification timeline: Extended by 6-12 months under IVDR versus previous directive</a:t>
            </a:r>
          </a:p>
          <a:p>
            <a:pPr>
              <a:defRPr sz="1200"/>
            </a:pPr>
            <a:r>
              <a:t>• Environmental compliance: REACH regulations add additional layer of complexity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57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Regulatory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Impact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IVDR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Achieved by 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Market Access Prerequisite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IPI Restrictions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Effective June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€5M Tender Barrier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[1] https://docs.google.com/document/d/1KWqiQRt4NvZuv2_3GC2UQWi7agGABNUshk7Pk_lRDTM/edit?tab=t.0</a:t>
            </a:r>
          </a:p>
          <a:p>
            <a:pPr>
              <a:defRPr sz="800" i="1"/>
            </a:pPr>
            <a:r>
              <a:t>[2] https://ec.europa.eu/commission/presscorner/detail/en/ip_25_1569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Competitive Landscape: Chinese Suppliers Gaining Traction Against Established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• Market leaders: Roche, Siemens, Abbott dominate central laboratory segment</a:t>
            </a:r>
          </a:p>
          <a:p>
            <a:pPr>
              <a:defRPr sz="1200"/>
            </a:pPr>
            <a:r>
              <a:t>• Chinese presence: Mindray, Snibe, Autobio expanding through acquisitions and partnerships</a:t>
            </a:r>
          </a:p>
          <a:p>
            <a:pPr>
              <a:defRPr sz="1200"/>
            </a:pPr>
            <a:r>
              <a:t>• Product registrations: 4,001 EU certificates across 23 Chinese companies in 2023</a:t>
            </a:r>
          </a:p>
          <a:p>
            <a:pPr>
              <a:defRPr sz="1200"/>
            </a:pPr>
            <a:r>
              <a:t>• Market focus: POCT and chemiluminescence segments showing strongest growth</a:t>
            </a:r>
          </a:p>
          <a:p>
            <a:pPr>
              <a:defRPr sz="1200"/>
            </a:pPr>
            <a:r>
              <a:t>• Localization strategy: Mindray acquired DiaSys (Germany) and HyTest (Finland) for European footprint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4320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[1] https://docs.google.com/document/d/1KWqiQRt4NvZuv2_3GC2UQWi7agGABNUshk7Pk_lRDTM/edit?tab=t.4</a:t>
            </a:r>
          </a:p>
          <a:p>
            <a:pPr>
              <a:defRPr sz="800" i="1"/>
            </a:pPr>
            <a:r>
              <a:t>[2] https://inf.news/en/economy/05703949a08a4f75f598ad8a52850b03.html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Access &amp; Reimbursement: Fragmented European Systems Require Country-Specific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• Germany: EBM catalog governs outpatient reimbursement with fixed pricing</a:t>
            </a:r>
          </a:p>
          <a:p>
            <a:pPr>
              <a:defRPr sz="1200"/>
            </a:pPr>
            <a:r>
              <a:t>• France: NABM system with innovative LAHN pathway for new technologies</a:t>
            </a:r>
          </a:p>
          <a:p>
            <a:pPr>
              <a:defRPr sz="1200"/>
            </a:pPr>
            <a:r>
              <a:t>• Italy: LEA catalog defines reimbursable services with national tariffs</a:t>
            </a:r>
          </a:p>
          <a:p>
            <a:pPr>
              <a:defRPr sz="1200"/>
            </a:pPr>
            <a:r>
              <a:t>• Spain: Global budget system without dedicated IVD reimbursement</a:t>
            </a:r>
          </a:p>
          <a:p>
            <a:pPr>
              <a:defRPr sz="1200"/>
            </a:pPr>
            <a:r>
              <a:t>• UK: NHS Payment Scheme bundles IVD into overall care payments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576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Reimbursement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Key Characteristic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EBM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Fee-for-service outpatient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NABM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Innovation funding available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LEA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National tariff system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[1] https://mtrconsult.com/general-market-access-landscape-vitro-diagnostic-tests-europe</a:t>
            </a:r>
          </a:p>
          <a:p>
            <a:pPr>
              <a:defRPr sz="800" i="1"/>
            </a:pPr>
            <a:r>
              <a:t>[2] https://journals.publisso.de/en/journals/gms/volume23/000337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Budget Analysis: Cost Pressure Creates Opportunities for Value Propositions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• Germany: €12.9B annual IVD expenditure with 2.6% of total healthcare budget</a:t>
            </a:r>
          </a:p>
          <a:p>
            <a:pPr>
              <a:defRPr sz="1200"/>
            </a:pPr>
            <a:r>
              <a:t>• Budget growth: 55% increase (2012-2022) versus 63% overall healthcare growth</a:t>
            </a:r>
          </a:p>
          <a:p>
            <a:pPr>
              <a:defRPr sz="1200"/>
            </a:pPr>
            <a:r>
              <a:t>• Efficiency measures: €450M efficiency bonus system controls utilization</a:t>
            </a:r>
          </a:p>
          <a:p>
            <a:pPr>
              <a:defRPr sz="1200"/>
            </a:pPr>
            <a:r>
              <a:t>• Pricing pressure: Fixed technical service prices without inflation adjustment</a:t>
            </a:r>
          </a:p>
          <a:p>
            <a:pPr>
              <a:defRPr sz="1200"/>
            </a:pPr>
            <a:r>
              <a:t>• Hospital allocation: Approximately 2% of clinic budgets allocated to laboratory services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4320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[1] https://journals.publisso.de/en/journals/gms/volume23/000337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Customer Receptivity: Trust Deficit in High-End Segments Despite Cost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• Price sensitivity: Strong receptivity for low-to-mid tier products based on cost competitiveness</a:t>
            </a:r>
          </a:p>
          <a:p>
            <a:pPr>
              <a:defRPr sz="1200"/>
            </a:pPr>
            <a:r>
              <a:t>• Trust barrier: Limited adoption of high-end Chinese IVD solutions due to brand perception</a:t>
            </a:r>
          </a:p>
          <a:p>
            <a:pPr>
              <a:defRPr sz="1200"/>
            </a:pPr>
            <a:r>
              <a:t>• Segment focus: Success in POCT, emergency departments, and small laboratory settings</a:t>
            </a:r>
          </a:p>
          <a:p>
            <a:pPr>
              <a:defRPr sz="1200"/>
            </a:pPr>
            <a:r>
              <a:t>• Local presence: Mindray's 90% local workforce in Turkey demonstrates localization success model</a:t>
            </a:r>
          </a:p>
          <a:p>
            <a:pPr>
              <a:defRPr sz="1200"/>
            </a:pPr>
            <a:r>
              <a:t>• Acquisition strategy: European acquisitions (DiaSys, HyTest) improve credibility and service capability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57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Market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Receptivity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Key Driver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Low-to-Mid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Cost competitiveness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High-End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Brand trust deficit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[1] https://docs.google.com/document/d/1KWqiQRt4NvZuv2_3GC2UQWi7agGABNUshk7Pk_lRDTM/edit?tab=t.0</a:t>
            </a:r>
          </a:p>
          <a:p>
            <a:pPr>
              <a:defRPr sz="800" i="1"/>
            </a:pPr>
            <a:r>
              <a:t>[2] https://healthcare-in-europe.com/en/news/snibe-makes-an-entry-at-euromedlab.html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Strategic Opportunities: Targeted Approaches for Market Penetration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• POCT expansion: Decentralized testing growth driven by laboratory consolidation trends</a:t>
            </a:r>
          </a:p>
          <a:p>
            <a:pPr>
              <a:defRPr sz="1200"/>
            </a:pPr>
            <a:r>
              <a:t>• Eastern European gateway: Utilize Hungary, Greece for initial EU market entry</a:t>
            </a:r>
          </a:p>
          <a:p>
            <a:pPr>
              <a:defRPr sz="1200"/>
            </a:pPr>
            <a:r>
              <a:t>• German certification: Leverage strict certification for brand credibility enhancement</a:t>
            </a:r>
          </a:p>
          <a:p>
            <a:pPr>
              <a:defRPr sz="1200"/>
            </a:pPr>
            <a:r>
              <a:t>• Local manufacturing: Establish EU production facilities to bypass IPI restrictions</a:t>
            </a:r>
          </a:p>
          <a:p>
            <a:pPr>
              <a:defRPr sz="1200"/>
            </a:pPr>
            <a:r>
              <a:t>• Strategic partnerships: Collaborate with European distributors and laboratory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[1] https://docs.google.com/document/d/1KWqiQRt4NvZuv2_3GC2UQWi7agGABNUshk7Pk_lRDTM/edit?tab=t.0</a:t>
            </a:r>
          </a:p>
          <a:p>
            <a:pPr>
              <a:defRPr sz="800" i="1"/>
            </a:pPr>
            <a:r>
              <a:t>[2] https://docs.google.com/document/d/1KWqiQRt4NvZuv2_3GC2UQWi7agGABNUshk7Pk_lRDTM/edit?tab=t.4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Risk Assessment: Geopolitical and Regulatory Challenges Require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• IPI restrictions: €5M tender barrier effective June 2025 limits large contract opportunities</a:t>
            </a:r>
          </a:p>
          <a:p>
            <a:pPr>
              <a:defRPr sz="1200"/>
            </a:pPr>
            <a:r>
              <a:t>• Component limitations: 50% Chinese content restriction requires supply chain diversification</a:t>
            </a:r>
          </a:p>
          <a:p>
            <a:pPr>
              <a:defRPr sz="1200"/>
            </a:pPr>
            <a:r>
              <a:t>• Regulatory complexity: IVDR transition adds 6-12 months to certification timelines</a:t>
            </a:r>
          </a:p>
          <a:p>
            <a:pPr>
              <a:defRPr sz="1200"/>
            </a:pPr>
            <a:r>
              <a:t>• Political scrutiny: Increasing EU focus on supply chain sovereignty and reduced Chinese dependence</a:t>
            </a:r>
          </a:p>
          <a:p>
            <a:pPr>
              <a:defRPr sz="1200"/>
            </a:pPr>
            <a:r>
              <a:t>• Reimbursement pressure: Fixed pricing systems without inflation adjustment limit margin potential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576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Risk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Impact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Mitigation Strategy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Geopolitical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Local manufacturing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Regulatory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Early IVDR compliance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Competitive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Niche segmentation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[1] https://ec.europa.eu/commission/presscorner/detail/en/ip_25_1569</a:t>
            </a:r>
          </a:p>
          <a:p>
            <a:pPr>
              <a:defRPr sz="800" i="1"/>
            </a:pPr>
            <a:r>
              <a:t>[2] https://www.ainvest.com/news/frontier-medtech-navigating-china-eu-trade-tensions-investment-gains-2507/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Strategic Recommendations: Three-Pronged Approach for Market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• Accelerate localization: Establish European manufacturing facilities to bypass IPI restrictions</a:t>
            </a:r>
          </a:p>
          <a:p>
            <a:pPr>
              <a:defRPr sz="1200"/>
            </a:pPr>
            <a:r>
              <a:t>• Focus on strategic segments: Target POCT and mid-tier segments where cost advantage is strongest</a:t>
            </a:r>
          </a:p>
          <a:p>
            <a:pPr>
              <a:defRPr sz="1200"/>
            </a:pPr>
            <a:r>
              <a:t>• Enhance clinical evidence: Invest in European clinical trials and health economic studies</a:t>
            </a:r>
          </a:p>
          <a:p>
            <a:pPr>
              <a:defRPr sz="1200"/>
            </a:pPr>
            <a:r>
              <a:t>• Leverage acquisitions: Continue strategic purchases of European companies for market access</a:t>
            </a:r>
          </a:p>
          <a:p>
            <a:pPr>
              <a:defRPr sz="1200"/>
            </a:pPr>
            <a:r>
              <a:t>• Develop partnership models: Create joint ventures with European distributors and laboratory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[1] https://docs.google.com/document/d/1KWqiQRt4NvZuv2_3GC2UQWi7agGABNUshk7Pk_lRDTM/edit?tab=t.0</a:t>
            </a:r>
          </a:p>
          <a:p>
            <a:pPr>
              <a:defRPr sz="800" i="1"/>
            </a:pPr>
            <a:r>
              <a:t>[2] https://hytest.fi/news/mindray-completes-acquisition-of-hytest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t>Conclusion: Strategic Transformation Required for Sustainable European Presence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• European IVD market offers significant growth potential but requires sophisticated market entry strategy</a:t>
            </a:r>
          </a:p>
          <a:p>
            <a:pPr>
              <a:defRPr sz="1200"/>
            </a:pPr>
            <a:r>
              <a:t>• Regulatory compliance (IVDR) is necessary but insufficient without addressing geopolitical barriers</a:t>
            </a:r>
          </a:p>
          <a:p>
            <a:pPr>
              <a:defRPr sz="1200"/>
            </a:pPr>
            <a:r>
              <a:t>• Local manufacturing presence critical for accessing large public tender opportunities</a:t>
            </a:r>
          </a:p>
          <a:p>
            <a:pPr>
              <a:defRPr sz="1200"/>
            </a:pPr>
            <a:r>
              <a:t>• Customer acceptance growing in value segments but requires continued investment in quality and clinical evidence</a:t>
            </a:r>
          </a:p>
          <a:p>
            <a:pPr>
              <a:defRPr sz="1200"/>
            </a:pPr>
            <a:r>
              <a:t>• Strategic acquisitions and partnerships provide fastest path to market credibility and distribution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[1] https://docs.google.com/document/d/1KWqiQRt4NvZuv2_3GC2UQWi7agGABNUshk7Pk_lRDTM/edit?tab=t.0</a:t>
            </a:r>
          </a:p>
          <a:p>
            <a:pPr>
              <a:defRPr sz="800" i="1"/>
            </a:pPr>
            <a:r>
              <a:t>[2] https://www.ainvest.com/news/frontier-medtech-navigating-china-eu-trade-tensions-investment-gains-2507/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
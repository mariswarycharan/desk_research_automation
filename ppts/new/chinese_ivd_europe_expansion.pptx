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Strategic Expansion of Chinese IVD Companies in Europe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Market Analysis and Competitive Landscape Focus on Mindray and Snibe</a:t>
            </a:r>
          </a:p>
          <a:p>
            <a:r>
              <a:t>Date: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Chinese IVD manufacturers demonstrating aggressive global expansion strategy with focus on European markets</a:t>
            </a:r>
          </a:p>
          <a:p>
            <a:pPr>
              <a:defRPr sz="1200">
                <a:latin typeface="Arial"/>
              </a:defRPr>
            </a:pPr>
            <a:r>
              <a:t>Major players like Mindray and Snibe achieving regulatory milestones (IVDR certification) for market access</a:t>
            </a:r>
          </a:p>
          <a:p>
            <a:pPr>
              <a:defRPr sz="1200">
                <a:latin typeface="Arial"/>
              </a:defRPr>
            </a:pPr>
            <a:r>
              <a:t>European market presents high-value opportunity with €1.65T healthcare expenditure but complex barriers</a:t>
            </a:r>
          </a:p>
          <a:p>
            <a:pPr>
              <a:defRPr sz="1200">
                <a:latin typeface="Arial"/>
              </a:defRPr>
            </a:pPr>
            <a:r>
              <a:t>Geopolitical factors creating new challenges through International Procurement Instrument restrictions</a:t>
            </a:r>
          </a:p>
          <a:p>
            <a:pPr>
              <a:defRPr sz="1200">
                <a:latin typeface="Arial"/>
              </a:defRPr>
            </a:pPr>
            <a:r>
              <a:t>Strategic acquisitions (HyTest, DiaSys) enabling technology transfer and local market presence</a:t>
            </a:r>
          </a:p>
          <a:p>
            <a:pPr>
              <a:defRPr sz="1200">
                <a:latin typeface="Arial"/>
              </a:defRPr>
            </a:pPr>
            <a:r>
              <a:t>Cost-competitive positioning vs established players but brand trust remains challenge in high-end segments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https://drive.google.com/file/d/1zt3vNjOlugypsvPkywduyWNRPGTHrsoj/view?usp=drive_link</a:t>
            </a:r>
          </a:p>
          <a:p>
            <a:pPr>
              <a:defRPr sz="800">
                <a:latin typeface="Arial"/>
              </a:defRPr>
            </a:pPr>
            <a:r>
              <a:t>https://ec.europa.eu/commission/presscorner/detail/en/ip_25_1569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Market Overview and Key Metrics</a:t>
            </a:r>
          </a:p>
          <a:p>
            <a:pPr>
              <a:defRPr sz="1200">
                <a:latin typeface="Arial"/>
              </a:defRPr>
            </a:pPr>
            <a:r>
              <a:t>Regulatory Landscape Analysis</a:t>
            </a:r>
          </a:p>
          <a:p>
            <a:pPr>
              <a:defRPr sz="1200">
                <a:latin typeface="Arial"/>
              </a:defRPr>
            </a:pPr>
            <a:r>
              <a:t>Competitive Positioning</a:t>
            </a:r>
          </a:p>
          <a:p>
            <a:pPr>
              <a:defRPr sz="1200">
                <a:latin typeface="Arial"/>
              </a:defRPr>
            </a:pPr>
            <a:r>
              <a:t>Market Access &amp; Reimbursement</a:t>
            </a:r>
          </a:p>
          <a:p>
            <a:pPr>
              <a:defRPr sz="1200">
                <a:latin typeface="Arial"/>
              </a:defRPr>
            </a:pPr>
            <a:r>
              <a:t>Strategic Opportunities &amp; Challenges</a:t>
            </a:r>
          </a:p>
          <a:p>
            <a:pPr>
              <a:defRPr sz="1200">
                <a:latin typeface="Arial"/>
              </a:defRPr>
            </a:pPr>
            <a:r>
              <a:t>Recommendations and Conclusion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European IVD Market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Total healthcare expenditure: €1.65 trillion (3,685 per capita)</a:t>
            </a:r>
          </a:p>
          <a:p>
            <a:pPr>
              <a:defRPr sz="1200">
                <a:latin typeface="Arial"/>
              </a:defRPr>
            </a:pPr>
            <a:r>
              <a:t>Laboratory diagnostics spending: €12.9B annually in Germany (2.6% of total healthcare)</a:t>
            </a:r>
          </a:p>
          <a:p>
            <a:pPr>
              <a:defRPr sz="1200">
                <a:latin typeface="Arial"/>
              </a:defRPr>
            </a:pPr>
            <a:r>
              <a:t>Market dominated by large commercial laboratory networks (55% share in Germany)</a:t>
            </a:r>
          </a:p>
          <a:p>
            <a:pPr>
              <a:defRPr sz="1200">
                <a:latin typeface="Arial"/>
              </a:defRPr>
            </a:pPr>
            <a:r>
              <a:t>DRG-based reimbursement systems with global budget constraints</a:t>
            </a:r>
          </a:p>
          <a:p>
            <a:pPr>
              <a:defRPr sz="1200">
                <a:latin typeface="Arial"/>
              </a:defRPr>
            </a:pPr>
            <a:r>
              <a:t>Increasing consolidation with decline in hospital-owned laboratory infrastructure</a:t>
            </a:r>
          </a:p>
          <a:p>
            <a:pPr>
              <a:defRPr sz="1200">
                <a:latin typeface="Arial"/>
              </a:defRPr>
            </a:pPr>
            <a:r>
              <a:t>Point-of-Care Testing emerging as growth segment due to staffing constraints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28600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https://drive.google.com/file/d/1zt3vNjOlugypsvPkywduyWNRPGTHrsoj/view?usp=drive_link</a:t>
            </a:r>
          </a:p>
          <a:p>
            <a:pPr>
              <a:defRPr sz="800">
                <a:latin typeface="Arial"/>
              </a:defRPr>
            </a:pPr>
            <a:r>
              <a:t>https://journals.publisso.de/en/journals/gms/volume23/000337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Landscape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Regulatory 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Impact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IVDR Transition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Extended to 2027-2028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Increased compliance costs and timelines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CE Certification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4,001 products certified (2023)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Market access prerequisite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IPI Restrictions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Effective June 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Exclusion from contracts &gt;€5M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Component Sourcing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50% Chinese content limit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Supply chain restructuring required</a:t>
                      </a:r>
                    </a:p>
                  </a:txBody>
                  <a:tcPr/>
                </a:tc>
              </a:tr>
              <a:tr h="5334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Environmental Regulations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REACH 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Additional R&amp;D requirements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754880"/>
            <a:ext cx="82296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IVDR certification lengthened by 6-12 months compared to previous directive</a:t>
            </a:r>
          </a:p>
          <a:p>
            <a:pPr>
              <a:defRPr sz="1200">
                <a:latin typeface="Arial"/>
              </a:defRPr>
            </a:pPr>
            <a:r>
              <a:t>30% of SMEs forced out of market due to regulatory complexity</a:t>
            </a:r>
          </a:p>
          <a:p>
            <a:pPr>
              <a:defRPr sz="1200">
                <a:latin typeface="Arial"/>
              </a:defRPr>
            </a:pPr>
            <a:r>
              <a:t>High-risk products require Notified Body certification under IVDR</a:t>
            </a:r>
          </a:p>
          <a:p>
            <a:pPr>
              <a:defRPr sz="1200">
                <a:latin typeface="Arial"/>
              </a:defRPr>
            </a:pPr>
            <a:r>
              <a:t>Environmental regulations (REACH) affecting raw material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https://drive.google.com/file/d/1zt3vNjOlugypsvPkywduyWNRPGTHrsoj/view?usp=drive_link</a:t>
            </a:r>
          </a:p>
          <a:p>
            <a:pPr>
              <a:defRPr sz="800">
                <a:latin typeface="Arial"/>
              </a:defRPr>
            </a:pPr>
            <a:r>
              <a:t>https://ec.europa.eu/commission/presscorner/detail/en/ip_25_1569</a:t>
            </a:r>
          </a:p>
          <a:p>
            <a:pPr>
              <a:defRPr sz="800">
                <a:latin typeface="Arial"/>
              </a:defRPr>
            </a:pPr>
            <a:r>
              <a:t>https://en.caclp.com/industry-news/1160.html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Global Registrations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Overseas Revenue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Key Strategies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Mindray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3,914 (3,158 overseas)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21.28%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Acquisitions (HyTest, DiaSys)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Snibe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1,493 global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IVDR certification for 211 products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Wondfo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Global service network in 150+ countries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Autobio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27.6%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Strategic partnerships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840480"/>
            <a:ext cx="8229600" cy="16459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Mindray maintains &gt;20% net profit growth for six consecutive years</a:t>
            </a:r>
          </a:p>
          <a:p>
            <a:pPr>
              <a:defRPr sz="1200">
                <a:latin typeface="Arial"/>
              </a:defRPr>
            </a:pPr>
            <a:r>
              <a:t>Chinese companies focusing on chemiluminescence and POCT segments</a:t>
            </a:r>
          </a:p>
          <a:p>
            <a:pPr>
              <a:defRPr sz="1200">
                <a:latin typeface="Arial"/>
              </a:defRPr>
            </a:pPr>
            <a:r>
              <a:t>Vertical integration (instruments + reagents) as competitive advantage</a:t>
            </a:r>
          </a:p>
          <a:p>
            <a:pPr>
              <a:defRPr sz="1200">
                <a:latin typeface="Arial"/>
              </a:defRPr>
            </a:pPr>
            <a:r>
              <a:t>Localization strategies through acquisitions and partnerships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3840480"/>
            <a:ext cx="3657600" cy="2286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https://en.caclp.com/industry-news/2365.html</a:t>
            </a:r>
          </a:p>
          <a:p>
            <a:pPr>
              <a:defRPr sz="800">
                <a:latin typeface="Arial"/>
              </a:defRPr>
            </a:pPr>
            <a:r>
              <a:t>https://en.caclp.com/industry-news/3349.html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Access &amp; Reimbursement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2743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Complex country-specific reimbursement systems across EU markets</a:t>
            </a:r>
          </a:p>
          <a:p>
            <a:pPr>
              <a:defRPr sz="1200">
                <a:latin typeface="Arial"/>
              </a:defRPr>
            </a:pPr>
            <a:r>
              <a:t>Germany: EBM catalog for outpatient care, DRG-based inpatient payments</a:t>
            </a:r>
          </a:p>
          <a:p>
            <a:pPr>
              <a:defRPr sz="1200">
                <a:latin typeface="Arial"/>
              </a:defRPr>
            </a:pPr>
            <a:r>
              <a:t>France: NABM system with innovative payment schemes (LAHN)</a:t>
            </a:r>
          </a:p>
          <a:p>
            <a:pPr>
              <a:defRPr sz="1200">
                <a:latin typeface="Arial"/>
              </a:defRPr>
            </a:pPr>
            <a:r>
              <a:t>Spain: Global budget funding without dedicated reimbursement system</a:t>
            </a:r>
          </a:p>
          <a:p>
            <a:pPr>
              <a:defRPr sz="1200">
                <a:latin typeface="Arial"/>
              </a:defRPr>
            </a:pPr>
            <a:r>
              <a:t>Italy: LEA catalog defining reimbursable services</a:t>
            </a:r>
          </a:p>
          <a:p>
            <a:pPr>
              <a:defRPr sz="1200">
                <a:latin typeface="Arial"/>
              </a:defRPr>
            </a:pPr>
            <a:r>
              <a:t>HTA requirements mandatory for novel/expensive tests in most countries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4114800"/>
          <a:ext cx="8229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Reimbursement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Key Characteristics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Germany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EBM/DRG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Fixed prices without inflation adjustment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France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NABM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Innovative payment schemes available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Spain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Global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No dedicated IVD reimbursement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Italy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LEA Catalog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Defined tariffs for services</a:t>
                      </a:r>
                    </a:p>
                  </a:txBody>
                  <a:tcPr/>
                </a:tc>
              </a:tr>
              <a:tr h="33528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UK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NHS Payment Scheme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Included in basic care payment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https://mtrconsult.com/general-market-access-landscape-vitro-diagnostic-tests-europe</a:t>
            </a:r>
          </a:p>
          <a:p>
            <a:pPr>
              <a:defRPr sz="800">
                <a:latin typeface="Arial"/>
              </a:defRPr>
            </a:pPr>
            <a:r>
              <a:t>https://journals.publisso.de/en/journals/gms/volume23/000337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Point-of-Care Testing growth due to declining hospital lab infrastructure</a:t>
            </a:r>
          </a:p>
          <a:p>
            <a:pPr>
              <a:defRPr sz="1200">
                <a:latin typeface="Arial"/>
              </a:defRPr>
            </a:pPr>
            <a:r>
              <a:t>Cost-effective solutions for budget-constrained healthcare systems</a:t>
            </a:r>
          </a:p>
          <a:p>
            <a:pPr>
              <a:defRPr sz="1200">
                <a:latin typeface="Arial"/>
              </a:defRPr>
            </a:pPr>
            <a:r>
              <a:t>Strategic acquisitions for technology transfer and market access</a:t>
            </a:r>
          </a:p>
          <a:p>
            <a:pPr>
              <a:defRPr sz="1200">
                <a:latin typeface="Arial"/>
              </a:defRPr>
            </a:pPr>
            <a:r>
              <a:t>Partnerships with local distributors across 18+ European countries</a:t>
            </a:r>
          </a:p>
          <a:p>
            <a:pPr>
              <a:defRPr sz="1200">
                <a:latin typeface="Arial"/>
              </a:defRPr>
            </a:pPr>
            <a:r>
              <a:t>Leveraging innovative payment schemes for novel test adoption</a:t>
            </a:r>
          </a:p>
          <a:p>
            <a:pPr>
              <a:defRPr sz="1200">
                <a:latin typeface="Arial"/>
              </a:defRPr>
            </a:pPr>
            <a:r>
              <a:t>Targeting specialized segments (genetic testing, therapeutic monitoring)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https://healthcare-in-europe.com/en/news/snibe-makes-an-entry-at-euromedlab.html</a:t>
            </a:r>
          </a:p>
          <a:p>
            <a:pPr>
              <a:defRPr sz="800">
                <a:latin typeface="Arial"/>
              </a:defRPr>
            </a:pPr>
            <a:r>
              <a:t>https://mtrconsult.com/general-market-access-landscape-vitro-diagnostic-tests-europe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Challenges and Risks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International Procurement Instrument restrictions effective June 2025</a:t>
            </a:r>
          </a:p>
          <a:p>
            <a:pPr>
              <a:defRPr sz="1200">
                <a:latin typeface="Arial"/>
              </a:defRPr>
            </a:pPr>
            <a:r>
              <a:t>Complex regulatory transition to IVDR with increased compliance costs</a:t>
            </a:r>
          </a:p>
          <a:p>
            <a:pPr>
              <a:defRPr sz="1200">
                <a:latin typeface="Arial"/>
              </a:defRPr>
            </a:pPr>
            <a:r>
              <a:t>Brand trust deficit in high-end product segments vs established players</a:t>
            </a:r>
          </a:p>
          <a:p>
            <a:pPr>
              <a:defRPr sz="1200">
                <a:latin typeface="Arial"/>
              </a:defRPr>
            </a:pPr>
            <a:r>
              <a:t>Localization requirements for public tender participation</a:t>
            </a:r>
          </a:p>
          <a:p>
            <a:pPr>
              <a:defRPr sz="1200">
                <a:latin typeface="Arial"/>
              </a:defRPr>
            </a:pPr>
            <a:r>
              <a:t>Price pressure due to fixed reimbursement rates without inflation adjustment</a:t>
            </a:r>
          </a:p>
          <a:p>
            <a:pPr>
              <a:defRPr sz="1200">
                <a:latin typeface="Arial"/>
              </a:defRPr>
            </a:pPr>
            <a:r>
              <a:t>Cultural and regulatory differences across EU member states</a:t>
            </a:r>
          </a:p>
          <a:p>
            <a:pPr>
              <a:defRPr sz="1200">
                <a:latin typeface="Arial"/>
              </a:defRPr>
            </a:pPr>
            <a:r>
              <a:t>Supply chain fragmentation and restructuring requirements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https://www.ainvest.com/news/frontier-medtech-navigating-china-eu-trade-tensions-investment-gains-2507/</a:t>
            </a:r>
          </a:p>
          <a:p>
            <a:pPr>
              <a:defRPr sz="800">
                <a:latin typeface="Arial"/>
              </a:defRPr>
            </a:pPr>
            <a:r>
              <a:t>https://ec.europa.eu/commission/presscorner/detail/en/ip_25_1569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Performance Analysis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Mindray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Snibe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Industry Average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2023 Revenue (CNY Bn)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34.93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108.44 (59 companies)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Revenue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&gt;20% (6 years)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16.62% (Q1 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-53.26% (2023)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R&amp;D Investment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10.99% of revenue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Varying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Overseas Revenue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21.28%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Net Profit Margin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Positive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latin typeface="Arial"/>
                        </a:defRPr>
                      </a:pPr>
                      <a:r>
                        <a:t>Mixed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4389120"/>
            <a:ext cx="8229600" cy="1371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Post-COVID market correction with 53.26% revenue decline across industry</a:t>
            </a:r>
          </a:p>
          <a:p>
            <a:pPr>
              <a:defRPr sz="1200">
                <a:latin typeface="Arial"/>
              </a:defRPr>
            </a:pPr>
            <a:r>
              <a:t>Mindray demonstrating consistent financial performance despite market challenges</a:t>
            </a:r>
          </a:p>
          <a:p>
            <a:pPr>
              <a:defRPr sz="1200">
                <a:latin typeface="Arial"/>
              </a:defRPr>
            </a:pPr>
            <a:r>
              <a:t>R&amp;D investment critical for maintaining competitive positioning</a:t>
            </a:r>
          </a:p>
          <a:p>
            <a:pPr>
              <a:defRPr sz="1200">
                <a:latin typeface="Arial"/>
              </a:defRPr>
            </a:pPr>
            <a:r>
              <a:t>Overseas revenue becoming increasingly important for growth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https://en.caclp.com/industry-news/2808.html</a:t>
            </a:r>
          </a:p>
          <a:p>
            <a:pPr>
              <a:defRPr sz="800">
                <a:latin typeface="Arial"/>
              </a:defRPr>
            </a:pPr>
            <a:r>
              <a:t>https://en.caclp.com/industry-news/3349.html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Geographic Expansion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Initial market entry through Eastern European countries (Hungary, Greece)</a:t>
            </a:r>
          </a:p>
          <a:p>
            <a:pPr>
              <a:defRPr sz="1200">
                <a:latin typeface="Arial"/>
              </a:defRPr>
            </a:pPr>
            <a:r>
              <a:t>Strategic focus on Germany for high-credibility certification</a:t>
            </a:r>
          </a:p>
          <a:p>
            <a:pPr>
              <a:defRPr sz="1200">
                <a:latin typeface="Arial"/>
              </a:defRPr>
            </a:pPr>
            <a:r>
              <a:t>Distribution partnerships across 18+ European countries</a:t>
            </a:r>
          </a:p>
          <a:p>
            <a:pPr>
              <a:defRPr sz="1200">
                <a:latin typeface="Arial"/>
              </a:defRPr>
            </a:pPr>
            <a:r>
              <a:t>Localization through acquisitions (DiaSys in Germany, HyTest in Finland)</a:t>
            </a:r>
          </a:p>
          <a:p>
            <a:pPr>
              <a:defRPr sz="1200">
                <a:latin typeface="Arial"/>
              </a:defRPr>
            </a:pPr>
            <a:r>
              <a:t>Turkey as successful template with 1,300+ medical institutions served</a:t>
            </a:r>
          </a:p>
          <a:p>
            <a:pPr>
              <a:defRPr sz="1200">
                <a:latin typeface="Arial"/>
              </a:defRPr>
            </a:pPr>
            <a:r>
              <a:t>Participation in major European trade shows (EUROMEDLAB 2025)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https://healthcare-in-europe.com/en/news/snibe-makes-an-entry-at-euromedlab.html</a:t>
            </a:r>
          </a:p>
          <a:p>
            <a:pPr>
              <a:defRPr sz="800">
                <a:latin typeface="Arial"/>
              </a:defRPr>
            </a:pPr>
            <a:r>
              <a:t>https://en.caclp.com/press-release/3381.html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Customer Receptivity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32004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Price sensitivity driving adoption in low-to-mid tier segments</a:t>
            </a:r>
          </a:p>
          <a:p>
            <a:pPr>
              <a:defRPr sz="1200">
                <a:latin typeface="Arial"/>
              </a:defRPr>
            </a:pPr>
            <a:r>
              <a:t>Brand trust remains challenge for high-end product adoption</a:t>
            </a:r>
          </a:p>
          <a:p>
            <a:pPr>
              <a:defRPr sz="1200">
                <a:latin typeface="Arial"/>
              </a:defRPr>
            </a:pPr>
            <a:r>
              <a:t>Local service capabilities critical for customer satisfaction</a:t>
            </a:r>
          </a:p>
          <a:p>
            <a:pPr>
              <a:defRPr sz="1200">
                <a:latin typeface="Arial"/>
              </a:defRPr>
            </a:pPr>
            <a:r>
              <a:t>90% local workforce in successful markets (Turkey example)</a:t>
            </a:r>
          </a:p>
          <a:p>
            <a:pPr>
              <a:defRPr sz="1200">
                <a:latin typeface="Arial"/>
              </a:defRPr>
            </a:pPr>
            <a:r>
              <a:t>Technical performance and reliability becoming competitive factors</a:t>
            </a:r>
          </a:p>
          <a:p>
            <a:pPr>
              <a:defRPr sz="1200">
                <a:latin typeface="Arial"/>
              </a:defRPr>
            </a:pPr>
            <a:r>
              <a:t>Gradual improvement in perception of Chinese product quality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2011680"/>
            <a:ext cx="36576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https://drive.google.com/file/d/1zt3vNjOlugypsvPkywduyWNRPGTHrsoj/view?usp=drive_link</a:t>
            </a:r>
          </a:p>
          <a:p>
            <a:pPr>
              <a:defRPr sz="800">
                <a:latin typeface="Arial"/>
              </a:defRPr>
            </a:pPr>
            <a:r>
              <a:t>https://healthcare-in-europe.com/en/news/snibe-makes-an-entry-at-euromedlab.html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8229600" cy="41148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Accelerate localization strategies through partnerships and acquisitions</a:t>
            </a:r>
          </a:p>
          <a:p>
            <a:pPr>
              <a:defRPr sz="1200">
                <a:latin typeface="Arial"/>
              </a:defRPr>
            </a:pPr>
            <a:r>
              <a:t>Focus on IVDR compliance and quality certification for market access</a:t>
            </a:r>
          </a:p>
          <a:p>
            <a:pPr>
              <a:defRPr sz="1200">
                <a:latin typeface="Arial"/>
              </a:defRPr>
            </a:pPr>
            <a:r>
              <a:t>Develop country-specific market access strategies for key markets</a:t>
            </a:r>
          </a:p>
          <a:p>
            <a:pPr>
              <a:defRPr sz="1200">
                <a:latin typeface="Arial"/>
              </a:defRPr>
            </a:pPr>
            <a:r>
              <a:t>Leverage cost advantages while investing in brand building</a:t>
            </a:r>
          </a:p>
          <a:p>
            <a:pPr>
              <a:defRPr sz="1200">
                <a:latin typeface="Arial"/>
              </a:defRPr>
            </a:pPr>
            <a:r>
              <a:t>Expand service and support capabilities in target markets</a:t>
            </a:r>
          </a:p>
          <a:p>
            <a:pPr>
              <a:defRPr sz="1200">
                <a:latin typeface="Arial"/>
              </a:defRPr>
            </a:pPr>
            <a:r>
              <a:t>Diversify product portfolio to include high-growth segments (POCT, molecular)</a:t>
            </a:r>
          </a:p>
          <a:p>
            <a:pPr>
              <a:defRPr sz="1200">
                <a:latin typeface="Arial"/>
              </a:defRPr>
            </a:pPr>
            <a:r>
              <a:t>Monitor and adapt to evolving regulatory requirements (IPI, IVDR)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https://www.ainvest.com/news/frontier-medtech-navigating-china-eu-trade-tensions-investment-gains-2507/</a:t>
            </a:r>
          </a:p>
          <a:p>
            <a:pPr>
              <a:defRPr sz="800">
                <a:latin typeface="Arial"/>
              </a:defRPr>
            </a:pPr>
            <a:r>
              <a:t>https://mtrconsult.com/general-market-access-landscape-vitro-diagnostic-tests-europe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/>
          <a:p>
            <a:pPr>
              <a:defRPr sz="1200">
                <a:latin typeface="Arial"/>
              </a:defRPr>
            </a:pPr>
            <a:r>
              <a:t>European IVD market presents significant opportunity but requires strategic adaptation</a:t>
            </a:r>
          </a:p>
          <a:p>
            <a:pPr>
              <a:defRPr sz="1200">
                <a:latin typeface="Arial"/>
              </a:defRPr>
            </a:pPr>
            <a:r>
              <a:t>Regulatory compliance (IVDR) and geopolitical factors (IPI) defining market access</a:t>
            </a:r>
          </a:p>
          <a:p>
            <a:pPr>
              <a:defRPr sz="1200">
                <a:latin typeface="Arial"/>
              </a:defRPr>
            </a:pPr>
            <a:r>
              <a:t>Chinese companies demonstrating capability to meet technical requirements</a:t>
            </a:r>
          </a:p>
          <a:p>
            <a:pPr>
              <a:defRPr sz="1200">
                <a:latin typeface="Arial"/>
              </a:defRPr>
            </a:pPr>
            <a:r>
              <a:t>Localization and partnerships critical for long-term success</a:t>
            </a:r>
          </a:p>
          <a:p>
            <a:pPr>
              <a:defRPr sz="1200">
                <a:latin typeface="Arial"/>
              </a:defRPr>
            </a:pPr>
            <a:r>
              <a:t>Cost competitiveness remains key advantage in budget-constrained environment</a:t>
            </a:r>
          </a:p>
          <a:p>
            <a:pPr>
              <a:defRPr sz="1200">
                <a:latin typeface="Arial"/>
              </a:defRPr>
            </a:pPr>
            <a:r>
              <a:t>Brand building and quality perception essential for premium segment penetration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760720"/>
            <a:ext cx="8229600" cy="640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900" b="1">
                <a:latin typeface="Arial"/>
              </a:defRPr>
            </a:pPr>
            <a:r>
              <a:t>References:</a:t>
            </a:r>
          </a:p>
          <a:p>
            <a:pPr>
              <a:defRPr sz="800">
                <a:latin typeface="Arial"/>
              </a:defRPr>
            </a:pPr>
            <a:r>
              <a:t>https://drive.google.com/file/d/1zt3vNjOlugypsvPkywduyWNRPGTHrsoj/view?usp=drive_link</a:t>
            </a:r>
          </a:p>
          <a:p>
            <a:pPr>
              <a:defRPr sz="800">
                <a:latin typeface="Arial"/>
              </a:defRPr>
            </a:pPr>
            <a:r>
              <a:t>https://www.ainvest.com/news/frontier-medtech-navigating-china-eu-trade-tensions-investment-gains-2507/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
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- Blank" type="title">
  <p:cSld name="10 - Blank">
    <p:bg>
      <p:bgPr>
        <a:solidFill>
          <a:srgbClr val="000000">
            <a:alpha val="0"/>
          </a:srgbClr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50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44">
          <p15:clr>
            <a:srgbClr val="FA7B17"/>
          </p15:clr>
        </p15:guide>
        <p15:guide id="2" orient="horz" pos="3075">
          <p15:clr>
            <a:srgbClr val="FA7B17"/>
          </p15:clr>
        </p15:guide>
        <p15:guide id="3" pos="36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a - Cover">
  <p:cSld name="01a - Cover">
    <p:bg>
      <p:bgPr>
        <a:solidFill>
          <a:srgbClr val="F5F5F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/>
        </p:nvSpPr>
        <p:spPr>
          <a:xfrm>
            <a:off x="-75" y="-4500"/>
            <a:ext cx="9144000" cy="68672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1" name="Google Shape;111;p29"/>
          <p:cNvSpPr txBox="1">
            <a:spLocks noGrp="1"/>
          </p:cNvSpPr>
          <p:nvPr>
            <p:ph type="ctrTitle"/>
          </p:nvPr>
        </p:nvSpPr>
        <p:spPr>
          <a:xfrm>
            <a:off x="4572000" y="1859735"/>
            <a:ext cx="4229100" cy="210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subTitle" idx="1"/>
          </p:nvPr>
        </p:nvSpPr>
        <p:spPr>
          <a:xfrm>
            <a:off x="4572100" y="4053377"/>
            <a:ext cx="4229100" cy="55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29"/>
          <p:cNvSpPr>
            <a:spLocks noGrp="1"/>
          </p:cNvSpPr>
          <p:nvPr>
            <p:ph type="pic" idx="2"/>
          </p:nvPr>
        </p:nvSpPr>
        <p:spPr>
          <a:xfrm>
            <a:off x="0" y="-4600"/>
            <a:ext cx="4127100" cy="68672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4" name="Google Shape;11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353079"/>
            <a:ext cx="598050" cy="4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9"/>
          <p:cNvSpPr txBox="1">
            <a:spLocks noGrp="1"/>
          </p:cNvSpPr>
          <p:nvPr>
            <p:ph type="subTitle" idx="3"/>
          </p:nvPr>
        </p:nvSpPr>
        <p:spPr>
          <a:xfrm>
            <a:off x="4572100" y="4723523"/>
            <a:ext cx="4229100" cy="69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subTitle" idx="4"/>
          </p:nvPr>
        </p:nvSpPr>
        <p:spPr>
          <a:xfrm>
            <a:off x="4572100" y="6462379"/>
            <a:ext cx="4229100" cy="2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4158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b - Alternative cover">
  <p:cSld name="01b - Alternative cover">
    <p:bg>
      <p:bgPr>
        <a:solidFill>
          <a:srgbClr val="F5F5F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/>
          <p:nvPr/>
        </p:nvSpPr>
        <p:spPr>
          <a:xfrm>
            <a:off x="-75" y="-4500"/>
            <a:ext cx="9144000" cy="68672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9" name="Google Shape;119;p30"/>
          <p:cNvSpPr txBox="1"/>
          <p:nvPr/>
        </p:nvSpPr>
        <p:spPr>
          <a:xfrm>
            <a:off x="571450" y="3191644"/>
            <a:ext cx="6549900" cy="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706B69"/>
              </a:solidFill>
              <a:latin typeface="Roche Sans Condensed Light"/>
              <a:ea typeface="Roche Sans Condensed Light"/>
              <a:cs typeface="Roche Sans Condensed Light"/>
              <a:sym typeface="Roche Sans Condensed Light"/>
            </a:endParaRPr>
          </a:p>
        </p:txBody>
      </p:sp>
      <p:sp>
        <p:nvSpPr>
          <p:cNvPr id="120" name="Google Shape;120;p30"/>
          <p:cNvSpPr txBox="1">
            <a:spLocks noGrp="1"/>
          </p:cNvSpPr>
          <p:nvPr>
            <p:ph type="subTitle" idx="1"/>
          </p:nvPr>
        </p:nvSpPr>
        <p:spPr>
          <a:xfrm>
            <a:off x="571450" y="3191644"/>
            <a:ext cx="6549900" cy="5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ctrTitle"/>
          </p:nvPr>
        </p:nvSpPr>
        <p:spPr>
          <a:xfrm>
            <a:off x="571450" y="781967"/>
            <a:ext cx="6976800" cy="2260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22" name="Google Shape;122;p30"/>
          <p:cNvCxnSpPr/>
          <p:nvPr/>
        </p:nvCxnSpPr>
        <p:spPr>
          <a:xfrm flipH="1">
            <a:off x="5658175" y="1506700"/>
            <a:ext cx="3493800" cy="539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3" name="Google Shape;12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353079"/>
            <a:ext cx="598050" cy="4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0"/>
          <p:cNvSpPr txBox="1">
            <a:spLocks noGrp="1"/>
          </p:cNvSpPr>
          <p:nvPr>
            <p:ph type="subTitle" idx="2"/>
          </p:nvPr>
        </p:nvSpPr>
        <p:spPr>
          <a:xfrm>
            <a:off x="571450" y="3883065"/>
            <a:ext cx="4495200" cy="69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3"/>
          </p:nvPr>
        </p:nvSpPr>
        <p:spPr>
          <a:xfrm>
            <a:off x="6016200" y="6453833"/>
            <a:ext cx="2784900" cy="24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che Sans Light"/>
              <a:buNone/>
              <a:defRPr sz="11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038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able of contents">
  <p:cSld name="02 - Table of contents">
    <p:bg>
      <p:bgPr>
        <a:solidFill>
          <a:srgbClr val="F5F5F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/>
          <p:nvPr/>
        </p:nvSpPr>
        <p:spPr>
          <a:xfrm>
            <a:off x="-75" y="-4500"/>
            <a:ext cx="9144000" cy="68672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>
            <a:off x="571450" y="2867800"/>
            <a:ext cx="4304400" cy="11224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36" name="Google Shape;136;p32"/>
          <p:cNvCxnSpPr/>
          <p:nvPr/>
        </p:nvCxnSpPr>
        <p:spPr>
          <a:xfrm flipH="1">
            <a:off x="2805632" y="3428997"/>
            <a:ext cx="2222400" cy="343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32"/>
          <p:cNvCxnSpPr/>
          <p:nvPr/>
        </p:nvCxnSpPr>
        <p:spPr>
          <a:xfrm>
            <a:off x="2792028" y="-6333"/>
            <a:ext cx="2236200" cy="343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32"/>
          <p:cNvCxnSpPr/>
          <p:nvPr/>
        </p:nvCxnSpPr>
        <p:spPr>
          <a:xfrm>
            <a:off x="5039800" y="-4000"/>
            <a:ext cx="0" cy="688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32"/>
          <p:cNvSpPr txBox="1">
            <a:spLocks noGrp="1"/>
          </p:cNvSpPr>
          <p:nvPr>
            <p:ph type="body" idx="1"/>
          </p:nvPr>
        </p:nvSpPr>
        <p:spPr>
          <a:xfrm>
            <a:off x="5641200" y="781967"/>
            <a:ext cx="3159900" cy="525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175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/>
            </a:lvl1pPr>
            <a:lvl2pPr marL="914400" lvl="1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2pPr>
            <a:lvl3pPr marL="1371600" lvl="2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0" name="Google Shape;14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8632" y="353079"/>
            <a:ext cx="598050" cy="428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25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rpose statement">
  <p:cSld name="Purpose statemen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/>
          <p:nvPr/>
        </p:nvSpPr>
        <p:spPr>
          <a:xfrm>
            <a:off x="-75" y="-4500"/>
            <a:ext cx="9144000" cy="68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3" name="Google Shape;143;p33"/>
          <p:cNvSpPr txBox="1"/>
          <p:nvPr/>
        </p:nvSpPr>
        <p:spPr>
          <a:xfrm>
            <a:off x="311700" y="2867800"/>
            <a:ext cx="85206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B41CD"/>
                </a:solidFill>
                <a:latin typeface="Roche Sans Medium"/>
                <a:ea typeface="Roche Sans Medium"/>
                <a:cs typeface="Roche Sans Medium"/>
                <a:sym typeface="Roche Sans Medium"/>
              </a:rPr>
              <a:t>Doing now what patients need next</a:t>
            </a:r>
            <a:endParaRPr sz="2000">
              <a:solidFill>
                <a:srgbClr val="0B41CD"/>
              </a:solidFill>
              <a:latin typeface="Roche Sans Medium"/>
              <a:ea typeface="Roche Sans Medium"/>
              <a:cs typeface="Roche Sans Medium"/>
              <a:sym typeface="Roche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9626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a - Title and 1 column" type="tx">
  <p:cSld name="04a - Title and 1 colum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title"/>
          </p:nvPr>
        </p:nvSpPr>
        <p:spPr>
          <a:xfrm>
            <a:off x="571450" y="576900"/>
            <a:ext cx="7431600" cy="50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subTitle" idx="1"/>
          </p:nvPr>
        </p:nvSpPr>
        <p:spPr>
          <a:xfrm>
            <a:off x="571450" y="1084800"/>
            <a:ext cx="7431600" cy="432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body" idx="2"/>
          </p:nvPr>
        </p:nvSpPr>
        <p:spPr>
          <a:xfrm>
            <a:off x="571450" y="1923567"/>
            <a:ext cx="8229600" cy="44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2pPr>
            <a:lvl3pPr marL="1371600" lvl="2" indent="-304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3382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b - Title and 1 column with picture">
  <p:cSld name="04b - Title and 1 column with pictur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>
            <a:spLocks noGrp="1"/>
          </p:cNvSpPr>
          <p:nvPr>
            <p:ph type="pic" idx="2"/>
          </p:nvPr>
        </p:nvSpPr>
        <p:spPr>
          <a:xfrm>
            <a:off x="5609275" y="1914967"/>
            <a:ext cx="3534600" cy="45320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5"/>
          <p:cNvSpPr txBox="1">
            <a:spLocks noGrp="1"/>
          </p:cNvSpPr>
          <p:nvPr>
            <p:ph type="body" idx="1"/>
          </p:nvPr>
        </p:nvSpPr>
        <p:spPr>
          <a:xfrm>
            <a:off x="571450" y="1923567"/>
            <a:ext cx="4694700" cy="44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400"/>
            </a:lvl1pPr>
            <a:lvl2pPr marL="914400" lvl="1" indent="-30480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2pPr>
            <a:lvl3pPr marL="1371600" lvl="2" indent="-3048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1" name="Google Shape;151;p35"/>
          <p:cNvSpPr txBox="1">
            <a:spLocks noGrp="1"/>
          </p:cNvSpPr>
          <p:nvPr>
            <p:ph type="subTitle" idx="3"/>
          </p:nvPr>
        </p:nvSpPr>
        <p:spPr>
          <a:xfrm>
            <a:off x="571450" y="1084800"/>
            <a:ext cx="7431600" cy="432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571450" y="576900"/>
            <a:ext cx="7431600" cy="50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428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- Title only">
  <p:cSld name="09 - Title 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>
            <a:spLocks noGrp="1"/>
          </p:cNvSpPr>
          <p:nvPr>
            <p:ph type="subTitle" idx="1"/>
          </p:nvPr>
        </p:nvSpPr>
        <p:spPr>
          <a:xfrm>
            <a:off x="571450" y="1084800"/>
            <a:ext cx="7430400" cy="432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title"/>
          </p:nvPr>
        </p:nvSpPr>
        <p:spPr>
          <a:xfrm>
            <a:off x="571450" y="576900"/>
            <a:ext cx="7430400" cy="50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08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- Title and 3 columns">
  <p:cSld name="06 - Title and 3 column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>
            <a:spLocks noGrp="1"/>
          </p:cNvSpPr>
          <p:nvPr>
            <p:ph type="body" idx="1"/>
          </p:nvPr>
        </p:nvSpPr>
        <p:spPr>
          <a:xfrm flipH="1">
            <a:off x="571400" y="1923567"/>
            <a:ext cx="2609100" cy="448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8" name="Google Shape;158;p37"/>
          <p:cNvSpPr txBox="1">
            <a:spLocks noGrp="1"/>
          </p:cNvSpPr>
          <p:nvPr>
            <p:ph type="body" idx="2"/>
          </p:nvPr>
        </p:nvSpPr>
        <p:spPr>
          <a:xfrm flipH="1">
            <a:off x="3381700" y="1923567"/>
            <a:ext cx="2609100" cy="448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9" name="Google Shape;159;p37"/>
          <p:cNvSpPr txBox="1">
            <a:spLocks noGrp="1"/>
          </p:cNvSpPr>
          <p:nvPr>
            <p:ph type="body" idx="3"/>
          </p:nvPr>
        </p:nvSpPr>
        <p:spPr>
          <a:xfrm flipH="1">
            <a:off x="6192000" y="1923567"/>
            <a:ext cx="2609100" cy="448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0" name="Google Shape;160;p37"/>
          <p:cNvSpPr txBox="1">
            <a:spLocks noGrp="1"/>
          </p:cNvSpPr>
          <p:nvPr>
            <p:ph type="subTitle" idx="4"/>
          </p:nvPr>
        </p:nvSpPr>
        <p:spPr>
          <a:xfrm>
            <a:off x="571450" y="1084800"/>
            <a:ext cx="7431600" cy="432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571450" y="576900"/>
            <a:ext cx="7431600" cy="50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5071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31">
          <p15:clr>
            <a:srgbClr val="FA7B17"/>
          </p15:clr>
        </p15:guide>
        <p15:guide id="2" pos="3773">
          <p15:clr>
            <a:srgbClr val="FA7B17"/>
          </p15:clr>
        </p15:guide>
        <p15:guide id="3" pos="2004">
          <p15:clr>
            <a:srgbClr val="FA7B17"/>
          </p15:clr>
        </p15:guide>
        <p15:guide id="4" pos="390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Title and 2 columns">
  <p:cSld name="05 - Title and 2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>
            <a:spLocks noGrp="1"/>
          </p:cNvSpPr>
          <p:nvPr>
            <p:ph type="body" idx="1"/>
          </p:nvPr>
        </p:nvSpPr>
        <p:spPr>
          <a:xfrm flipH="1">
            <a:off x="571450" y="1923567"/>
            <a:ext cx="3926700" cy="448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4" name="Google Shape;164;p38"/>
          <p:cNvSpPr txBox="1">
            <a:spLocks noGrp="1"/>
          </p:cNvSpPr>
          <p:nvPr>
            <p:ph type="body" idx="2"/>
          </p:nvPr>
        </p:nvSpPr>
        <p:spPr>
          <a:xfrm flipH="1">
            <a:off x="4869300" y="1923567"/>
            <a:ext cx="3926700" cy="448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Google Shape;165;p38"/>
          <p:cNvSpPr txBox="1">
            <a:spLocks noGrp="1"/>
          </p:cNvSpPr>
          <p:nvPr>
            <p:ph type="subTitle" idx="3"/>
          </p:nvPr>
        </p:nvSpPr>
        <p:spPr>
          <a:xfrm>
            <a:off x="571450" y="1084800"/>
            <a:ext cx="7431600" cy="432000"/>
          </a:xfrm>
          <a:prstGeom prst="rect">
            <a:avLst/>
          </a:prstGeom>
        </p:spPr>
        <p:txBody>
          <a:bodyPr spcFirstLastPara="1" wrap="square" lIns="0" tIns="0" rIns="91425" bIns="1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06B69"/>
              </a:buClr>
              <a:buSzPts val="1700"/>
              <a:buFont typeface="Roche Sans Condensed Light"/>
              <a:buNone/>
              <a:defRPr sz="1700">
                <a:solidFill>
                  <a:srgbClr val="706B69"/>
                </a:solidFill>
                <a:latin typeface="Roche Sans Condensed Light"/>
                <a:ea typeface="Roche Sans Condensed Light"/>
                <a:cs typeface="Roche Sans Condensed Light"/>
                <a:sym typeface="Roche Sans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38"/>
          <p:cNvSpPr txBox="1">
            <a:spLocks noGrp="1"/>
          </p:cNvSpPr>
          <p:nvPr>
            <p:ph type="title"/>
          </p:nvPr>
        </p:nvSpPr>
        <p:spPr>
          <a:xfrm>
            <a:off x="571450" y="576900"/>
            <a:ext cx="7431600" cy="50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4266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70">
          <p15:clr>
            <a:srgbClr val="FA7B17"/>
          </p15:clr>
        </p15:guide>
        <p15:guide id="2" pos="2834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- Quote (long)">
  <p:cSld name="07 - Quote (long)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>
            <a:spLocks noGrp="1"/>
          </p:cNvSpPr>
          <p:nvPr>
            <p:ph type="subTitle" idx="1"/>
          </p:nvPr>
        </p:nvSpPr>
        <p:spPr>
          <a:xfrm>
            <a:off x="1675600" y="1336800"/>
            <a:ext cx="5793000" cy="355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che Serif Light"/>
              <a:buNone/>
              <a:defRPr sz="3000" i="1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che Serif Light"/>
              <a:buNone/>
              <a:defRPr sz="2400">
                <a:latin typeface="Roche Serif Light"/>
                <a:ea typeface="Roche Serif Light"/>
                <a:cs typeface="Roche Serif Light"/>
                <a:sym typeface="Roche Serif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39"/>
          <p:cNvSpPr txBox="1">
            <a:spLocks noGrp="1"/>
          </p:cNvSpPr>
          <p:nvPr>
            <p:ph type="subTitle" idx="2"/>
          </p:nvPr>
        </p:nvSpPr>
        <p:spPr>
          <a:xfrm>
            <a:off x="1675600" y="4968300"/>
            <a:ext cx="5793000" cy="4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che Sans Light"/>
              <a:buNone/>
              <a:defRPr sz="14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Roche Sans Light"/>
              <a:buNone/>
              <a:defRPr sz="1100"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146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54">
          <p15:clr>
            <a:srgbClr val="FA7B17"/>
          </p15:clr>
        </p15:guide>
        <p15:guide id="2" pos="4706">
          <p15:clr>
            <a:srgbClr val="FA7B17"/>
          </p15:clr>
        </p15:guide>
        <p15:guide id="3" orient="horz" pos="634">
          <p15:clr>
            <a:srgbClr val="FA7B17"/>
          </p15:clr>
        </p15:guide>
        <p15:guide id="4" orient="horz" pos="231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- Quote (short)">
  <p:cSld name="08 - Quote (short)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 txBox="1">
            <a:spLocks noGrp="1"/>
          </p:cNvSpPr>
          <p:nvPr>
            <p:ph type="subTitle" idx="1"/>
          </p:nvPr>
        </p:nvSpPr>
        <p:spPr>
          <a:xfrm>
            <a:off x="3826350" y="1923567"/>
            <a:ext cx="4974600" cy="33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che Serif Light"/>
              <a:buNone/>
              <a:defRPr sz="2000" i="1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che Serif Light"/>
              <a:buNone/>
              <a:defRPr sz="2400">
                <a:solidFill>
                  <a:srgbClr val="000000"/>
                </a:solidFill>
                <a:latin typeface="Roche Serif Light"/>
                <a:ea typeface="Roche Serif Light"/>
                <a:cs typeface="Roche Serif Light"/>
                <a:sym typeface="Roche Serif Ligh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40"/>
          <p:cNvSpPr txBox="1">
            <a:spLocks noGrp="1"/>
          </p:cNvSpPr>
          <p:nvPr>
            <p:ph type="subTitle" idx="2"/>
          </p:nvPr>
        </p:nvSpPr>
        <p:spPr>
          <a:xfrm>
            <a:off x="3826350" y="5319367"/>
            <a:ext cx="4974600" cy="39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che Sans Light"/>
              <a:buNone/>
              <a:defRPr sz="1400">
                <a:solidFill>
                  <a:srgbClr val="000000"/>
                </a:solidFill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40"/>
          <p:cNvSpPr>
            <a:spLocks noGrp="1"/>
          </p:cNvSpPr>
          <p:nvPr>
            <p:ph type="pic" idx="3"/>
          </p:nvPr>
        </p:nvSpPr>
        <p:spPr>
          <a:xfrm>
            <a:off x="0" y="1923567"/>
            <a:ext cx="3345600" cy="3792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85579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_2">
  <p:cSld name="TITLE_2_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4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4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5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0" name="Google Shape;180;p4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Google Shape;181;p4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11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_2">
  <p:cSld name="TITLE_AND_BODY_4_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Google Shape;185;p4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46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_3">
  <p:cSld name="TITLE_AND_BODY_4_3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8" name="Google Shape;188;p4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9" name="Google Shape;189;p4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38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_3">
  <p:cSld name="TITLE_2_3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5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45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4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57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735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8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571450" y="576900"/>
            <a:ext cx="7717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Roche Sans Medium"/>
              <a:buNone/>
              <a:defRPr sz="2200">
                <a:latin typeface="Roche Sans Medium"/>
                <a:ea typeface="Roche Sans Medium"/>
                <a:cs typeface="Roche Sans Medium"/>
                <a:sym typeface="Roch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571450" y="1923567"/>
            <a:ext cx="8229600" cy="4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rmAutofit/>
          </a:bodyPr>
          <a:lstStyle>
            <a:lvl1pPr marL="457200" lvl="0" indent="-31115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che Sans Light"/>
              <a:buChar char="■"/>
              <a:defRPr sz="1600">
                <a:latin typeface="Roche Sans Light"/>
                <a:ea typeface="Roche Sans Light"/>
                <a:cs typeface="Roche Sans Light"/>
                <a:sym typeface="Roche Sans Light"/>
              </a:defRPr>
            </a:lvl1pPr>
            <a:lvl2pPr marL="914400" lvl="1" indent="-31750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533D8"/>
              </a:buClr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●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●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○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che Sans Light"/>
              <a:buChar char="■"/>
              <a:defRPr>
                <a:latin typeface="Roche Sans Light"/>
                <a:ea typeface="Roche Sans Light"/>
                <a:cs typeface="Roche Sans Light"/>
                <a:sym typeface="Roche Sans Light"/>
              </a:defRPr>
            </a:lvl9pPr>
          </a:lstStyle>
          <a:p>
            <a:endParaRPr/>
          </a:p>
        </p:txBody>
      </p:sp>
      <p:pic>
        <p:nvPicPr>
          <p:cNvPr id="105" name="Google Shape;105;p2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288632" y="353079"/>
            <a:ext cx="598050" cy="4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7" descr=")]}'&#10;{&quot;branding&quot;:&quot;ROCHE_NEW&quot;,&quot;startSlideId&quot;:null,&quot;endSlideId&quot;:null,&quot;masterId&quot;:&quot;SLIDES_API916025361_8&quot;,&quot;theme&quot;:&quot;BLUE&quot;,&quot;defaultSlides&quot;:[&quot;SLIDES_API916025361_84&quot;,&quot;SLIDES_API916025361_164&quot;,&quot;SLIDES_API916025361_243&quot;,&quot;SLIDES_API916025361_320&quot;,&quot;SLIDES_API916025361_396&quot;,&quot;SLIDES_API916025361_474&quot;,&quot;SLIDES_API916025361_552&quot;,&quot;SLIDES_API916025361_629&quot;,&quot;SLIDES_API916025361_707&quot;,&quot;SLIDES_API916025361_782&quot;,&quot;SLIDES_API916025361_864&quot;,&quot;SLIDES_API916025361_944&quot;,&quot;SLIDES_API916025361_1023&quot;,&quot;SLIDES_API916025361_1104&quot;,&quot;SLIDES_API916025361_1184&quot;,&quot;SLIDES_API916025361_1263&quot;,&quot;SLIDES_API916025361_1346&quot;]}"/>
          <p:cNvSpPr/>
          <p:nvPr/>
        </p:nvSpPr>
        <p:spPr>
          <a:xfrm>
            <a:off x="3632725" y="54933"/>
            <a:ext cx="1923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7" name="Google Shape;107;p27"/>
          <p:cNvSpPr txBox="1"/>
          <p:nvPr/>
        </p:nvSpPr>
        <p:spPr>
          <a:xfrm>
            <a:off x="8252350" y="6351320"/>
            <a:ext cx="548700" cy="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latin typeface="Roche Sans Light"/>
                <a:ea typeface="Roche Sans Light"/>
                <a:cs typeface="Roche Sans Light"/>
                <a:sym typeface="Roche Sans Light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00">
              <a:latin typeface="Roche Sans Light"/>
              <a:ea typeface="Roche Sans Light"/>
              <a:cs typeface="Roche Sans Light"/>
              <a:sym typeface="Roche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44759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44">
          <p15:clr>
            <a:srgbClr val="EA4335"/>
          </p15:clr>
        </p15:guide>
        <p15:guide id="2" pos="360">
          <p15:clr>
            <a:srgbClr val="EA4335"/>
          </p15:clr>
        </p15:guide>
        <p15:guide id="3" orient="horz" pos="369">
          <p15:clr>
            <a:srgbClr val="EA4335"/>
          </p15:clr>
        </p15:guide>
        <p15:guide id="4" orient="horz" pos="909">
          <p15:clr>
            <a:srgbClr val="EA4335"/>
          </p15:clr>
        </p15:guide>
        <p15:guide id="5" pos="5221">
          <p15:clr>
            <a:srgbClr val="EA4335"/>
          </p15:clr>
        </p15:guide>
        <p15:guide id="6" orient="horz" pos="3076">
          <p15:clr>
            <a:srgbClr val="EA4335"/>
          </p15:clr>
        </p15:guide>
        <p15:guide id="7" orient="horz" pos="1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European IVD Market Analysis: Chinese Supplier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Research Presentation</a:t>
            </a:r>
          </a:p>
          <a:p>
            <a:r>
              <a:t>Client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/>
            </a:pPr>
            <a:r>
              <a:rPr dirty="0"/>
              <a:t>European IVD market represents high-value opportunity with €1.65T healthcare expenditure</a:t>
            </a:r>
          </a:p>
          <a:p>
            <a:pPr>
              <a:defRPr sz="1600"/>
            </a:pPr>
            <a:r>
              <a:rPr dirty="0"/>
              <a:t>Chinese suppliers face significant regulatory barriers with IVDR transition extending certification by 6-12 months</a:t>
            </a:r>
          </a:p>
          <a:p>
            <a:pPr>
              <a:defRPr sz="1600"/>
            </a:pPr>
            <a:r>
              <a:rPr dirty="0"/>
              <a:t>Geopolitical factors creating new challenges with EU restricting Chinese participation in contracts &gt;€5M</a:t>
            </a:r>
          </a:p>
          <a:p>
            <a:pPr>
              <a:defRPr sz="1600"/>
            </a:pPr>
            <a:r>
              <a:rPr dirty="0"/>
              <a:t>Leading Chinese companies (Mindray, </a:t>
            </a:r>
            <a:r>
              <a:rPr dirty="0" err="1"/>
              <a:t>Snibe</a:t>
            </a:r>
            <a:r>
              <a:rPr dirty="0"/>
              <a:t>, </a:t>
            </a:r>
            <a:r>
              <a:rPr dirty="0" err="1"/>
              <a:t>Autobio</a:t>
            </a:r>
            <a:r>
              <a:rPr dirty="0"/>
              <a:t>) achieving IVDR certification and showing strong overseas growth</a:t>
            </a:r>
          </a:p>
          <a:p>
            <a:pPr>
              <a:defRPr sz="1600"/>
            </a:pPr>
            <a:r>
              <a:rPr dirty="0"/>
              <a:t>Strategic acquisitions (Mindray/</a:t>
            </a:r>
            <a:r>
              <a:rPr dirty="0" err="1"/>
              <a:t>DiaSys</a:t>
            </a:r>
            <a:r>
              <a:rPr dirty="0"/>
              <a:t>, Mindray/</a:t>
            </a:r>
            <a:r>
              <a:rPr dirty="0" err="1"/>
              <a:t>HyTest</a:t>
            </a:r>
            <a:r>
              <a:rPr dirty="0"/>
              <a:t>) key to overcoming trust deficit and supply chain risks</a:t>
            </a:r>
          </a:p>
          <a:p>
            <a:pPr>
              <a:defRPr sz="1600"/>
            </a:pPr>
            <a:r>
              <a:rPr dirty="0"/>
              <a:t>Cost-effectiveness drives adoption in low-mid segments, but high-end market remains dominated by Western incumbents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dirty="0"/>
              <a:t>References:</a:t>
            </a:r>
          </a:p>
          <a:p>
            <a:pPr>
              <a:defRPr sz="900" i="1"/>
            </a:pPr>
            <a:r>
              <a:rPr dirty="0"/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rPr dirty="0"/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Market Overview &amp; Size</a:t>
            </a:r>
          </a:p>
          <a:p>
            <a:pPr>
              <a:defRPr sz="1600"/>
            </a:pPr>
            <a:r>
              <a:t>Key Trends &amp; Developments</a:t>
            </a:r>
          </a:p>
          <a:p>
            <a:pPr>
              <a:defRPr sz="1600"/>
            </a:pPr>
            <a:r>
              <a:t>Competitive Landscape</a:t>
            </a:r>
          </a:p>
          <a:p>
            <a:pPr>
              <a:defRPr sz="1600"/>
            </a:pPr>
            <a:r>
              <a:t>Regulatory Environment</a:t>
            </a:r>
          </a:p>
          <a:p>
            <a:pPr>
              <a:defRPr sz="1600"/>
            </a:pPr>
            <a:r>
              <a:t>Access &amp; Reimbursement</a:t>
            </a:r>
          </a:p>
          <a:p>
            <a:pPr>
              <a:defRPr sz="1600"/>
            </a:pPr>
            <a:r>
              <a:t>Budget &amp; Spend Analysis</a:t>
            </a:r>
          </a:p>
          <a:p>
            <a:pPr>
              <a:defRPr sz="1600"/>
            </a:pPr>
            <a:r>
              <a:t>Customer Receptivity</a:t>
            </a:r>
          </a:p>
          <a:p>
            <a:pPr>
              <a:defRPr sz="1600"/>
            </a:pPr>
            <a:r>
              <a:t>Strategic Opportunities</a:t>
            </a:r>
          </a:p>
          <a:p>
            <a:pPr>
              <a:defRPr sz="1600"/>
            </a:pPr>
            <a:r>
              <a:t>Risks &amp; Challenges</a:t>
            </a:r>
          </a:p>
          <a:p>
            <a:pPr>
              <a:defRPr sz="1600"/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European healthcare expenditure: €1.65 trillion with €3,685 per capita spending</a:t>
            </a:r>
          </a:p>
          <a:p>
            <a:pPr>
              <a:defRPr sz="1600"/>
            </a:pPr>
            <a:r>
              <a:t>Government and mandatory insurance funding represents over 60% of budget structure</a:t>
            </a:r>
          </a:p>
          <a:p>
            <a:pPr>
              <a:defRPr sz="1600"/>
            </a:pPr>
            <a:r>
              <a:t>Market transitioning from COVID-era volumes back to traditional non-COVID business</a:t>
            </a:r>
          </a:p>
          <a:p>
            <a:pPr>
              <a:defRPr sz="1600"/>
            </a:pPr>
            <a:r>
              <a:t>Chinese IVD sector showing contraction with total revenue dropping 53.26% in 2023</a:t>
            </a:r>
          </a:p>
          <a:p>
            <a:pPr>
              <a:defRPr sz="1600"/>
            </a:pPr>
            <a:r>
              <a:t>Long-term demand drivers: population aging, chronic disease rates, health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https://en.caclp.com/industry-news/2808.html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 &amp; Developments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IVDR transition creating market consolidation with 30% of SMEs forced out</a:t>
            </a:r>
          </a:p>
          <a:p>
            <a:pPr>
              <a:defRPr sz="1600"/>
            </a:pPr>
            <a:r>
              <a:t>Geopolitical tensions leading to EU restrictions on Chinese participation in large contracts</a:t>
            </a:r>
          </a:p>
          <a:p>
            <a:pPr>
              <a:defRPr sz="1600"/>
            </a:pPr>
            <a:r>
              <a:t>Strategic acquisitions accelerating (Mindray/DiaSys, Mindray/HyTest, Wondfo/Tisenc)</a:t>
            </a:r>
          </a:p>
          <a:p>
            <a:pPr>
              <a:defRPr sz="1600"/>
            </a:pPr>
            <a:r>
              <a:t>Localization strategies becoming critical for market access and customer trust</a:t>
            </a:r>
          </a:p>
          <a:p>
            <a:pPr>
              <a:defRPr sz="1600"/>
            </a:pPr>
            <a:r>
              <a:t>R&amp;D investment increasing with Mindray allocating 10.99% of revenue to medical R&amp;D</a:t>
            </a:r>
          </a:p>
          <a:p>
            <a:pPr>
              <a:defRPr sz="1600"/>
            </a:pPr>
            <a:r>
              <a:t>Shift toward AI and automation integration in product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https://en.caclp.com/industry-news/2785.html</a:t>
            </a:r>
          </a:p>
          <a:p>
            <a:pPr>
              <a:defRPr sz="900" i="1"/>
            </a:pPr>
            <a:r>
              <a:t>[3] https://en.caclp.com/industry-news/3349.html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18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Global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Overseas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2024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IVDR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Mindray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Multiple certifications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Snibe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211 chemiluminescence reagents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Maccura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Autobio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IVDR certified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Wondfo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140+ countries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IVDR QMS certified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https://en.caclp.com/industry-news/2365.html</a:t>
            </a:r>
          </a:p>
          <a:p>
            <a:pPr>
              <a:defRPr sz="900" i="1"/>
            </a:pPr>
            <a:r>
              <a:t>[2] https://en.caclp.com/industry-news/2785.html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/>
            </a:pPr>
            <a:r>
              <a:rPr dirty="0"/>
              <a:t>IVDR (EU 2017/746) implementation began May 26, 2022 with extended transition to 2027-2028</a:t>
            </a:r>
          </a:p>
          <a:p>
            <a:pPr>
              <a:defRPr sz="1600"/>
            </a:pPr>
            <a:r>
              <a:rPr dirty="0"/>
              <a:t>CE certification mandatory for market access, acting as regulatory 'visa'</a:t>
            </a:r>
          </a:p>
          <a:p>
            <a:pPr>
              <a:defRPr sz="1600"/>
            </a:pPr>
            <a:r>
              <a:rPr dirty="0"/>
              <a:t>Chinese companies among first to achieve IVDR certifications across multiple categories</a:t>
            </a:r>
          </a:p>
          <a:p>
            <a:pPr>
              <a:defRPr sz="1600"/>
            </a:pPr>
            <a:r>
              <a:rPr dirty="0"/>
              <a:t>REACH environmental regulations adding compliance complexity for reagents and instruments</a:t>
            </a:r>
          </a:p>
          <a:p>
            <a:pPr>
              <a:defRPr sz="1600"/>
            </a:pPr>
            <a:r>
              <a:rPr dirty="0"/>
              <a:t>High-risk IVD products require Notified Body certification; low-risk can be self-declared</a:t>
            </a:r>
          </a:p>
          <a:p>
            <a:pPr>
              <a:defRPr sz="1600"/>
            </a:pPr>
            <a:r>
              <a:rPr dirty="0"/>
              <a:t>Average certification process lengthened by 6-12 months under IVDR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7315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https://en.caclp.com/industry-news/1160.html</a:t>
            </a:r>
          </a:p>
          <a:p>
            <a:pPr>
              <a:defRPr sz="900" i="1"/>
            </a:pPr>
            <a:r>
              <a:t>[3] https://en.caclp.com/industry-news/3530.html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&amp; Reimbursement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EU member states use pricing systems driven by public health insurance</a:t>
            </a:r>
          </a:p>
          <a:p>
            <a:pPr>
              <a:defRPr sz="1600"/>
            </a:pPr>
            <a:r>
              <a:t>National/regional agencies negotiate with manufacturers balancing affordability, profits, compliance</a:t>
            </a:r>
          </a:p>
          <a:p>
            <a:pPr>
              <a:defRPr sz="1600"/>
            </a:pPr>
            <a:r>
              <a:t>Tiered reimbursement structure: DRG-based prospective payment system plus supplementary mechanisms</a:t>
            </a:r>
          </a:p>
          <a:p>
            <a:pPr>
              <a:defRPr sz="1600"/>
            </a:pPr>
            <a:r>
              <a:t>Public tender rules and long-term cost control paramount in government-funded systems</a:t>
            </a:r>
          </a:p>
          <a:p>
            <a:pPr>
              <a:defRPr sz="1600"/>
            </a:pPr>
            <a:r>
              <a:t>European market fragmentation requires country-specific reimbursement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&amp;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€5M threshold for EU restrictions on Chinese participation in public procurement</a:t>
            </a:r>
          </a:p>
          <a:p>
            <a:pPr>
              <a:defRPr sz="1600"/>
            </a:pPr>
            <a:r>
              <a:t>Chinese suppliers limited to smaller, decentralized budget allocations</a:t>
            </a:r>
          </a:p>
          <a:p>
            <a:pPr>
              <a:defRPr sz="1600"/>
            </a:pPr>
            <a:r>
              <a:t>Successful bids must contain no more than 50% Chinese inputs</a:t>
            </a:r>
          </a:p>
          <a:p>
            <a:pPr>
              <a:defRPr sz="1600"/>
            </a:pPr>
            <a:r>
              <a:t>Exceptions possible where no alternative suppliers exist</a:t>
            </a:r>
          </a:p>
          <a:p>
            <a:pPr>
              <a:defRPr sz="1600"/>
            </a:pPr>
            <a:r>
              <a:t>Government and mandatory insurance represents majority of funding (&gt;60%)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https://ec.europa.eu/commission/presscorner/detail/en/ip_25_1569</a:t>
            </a:r>
          </a:p>
          <a:p>
            <a:pPr>
              <a:defRPr sz="900" i="1"/>
            </a:pPr>
            <a:r>
              <a:t>[2]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Receptivity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Chinese medical device exports to EU more than doubled between 2015-2023</a:t>
            </a:r>
          </a:p>
          <a:p>
            <a:pPr>
              <a:defRPr sz="1600"/>
            </a:pPr>
            <a:r>
              <a:t>Price sensitivity in low-to-mid-end devices, brand trust deficit in high-end products</a:t>
            </a:r>
          </a:p>
          <a:p>
            <a:pPr>
              <a:defRPr sz="1600"/>
            </a:pPr>
            <a:r>
              <a:t>Snibe sold 3,637 units abroad vs 1,141 domestically in first three quarters of 2022</a:t>
            </a:r>
          </a:p>
          <a:p>
            <a:pPr>
              <a:defRPr sz="1600"/>
            </a:pPr>
            <a:r>
              <a:t>Market dominated by international giants (Roche, J&amp;J, Siemens, Abbott) with strong brands</a:t>
            </a:r>
          </a:p>
          <a:p>
            <a:pPr>
              <a:defRPr sz="1600"/>
            </a:pPr>
            <a:r>
              <a:t>Chinese companies targeting small to middle size diagnostic centers with compact solutions</a:t>
            </a:r>
          </a:p>
          <a:p>
            <a:pPr>
              <a:defRPr sz="1600"/>
            </a:pPr>
            <a:r>
              <a:t>Performance-to-cost ratio creating substitution effect in international markets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20040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https://ec.europa.eu/commission/presscorner/detail/en/ip_25_1569</a:t>
            </a:r>
          </a:p>
          <a:p>
            <a:pPr>
              <a:defRPr sz="900" i="1"/>
            </a:pPr>
            <a:r>
              <a:t>[2] https://drive.google.com/file/d/1zt3vNjOlugypsvPkywduyWNRPGTHrsoj/view?usp=drive_link</a:t>
            </a:r>
          </a:p>
          <a:p>
            <a:pPr>
              <a:defRPr sz="900" i="1"/>
            </a:pPr>
            <a:r>
              <a:t>[3] https://en.caclp.com/industry-news/2365.html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Strategic acquisitions of European companies to secure supply chains and credibility</a:t>
            </a:r>
          </a:p>
          <a:p>
            <a:pPr>
              <a:defRPr sz="1600"/>
            </a:pPr>
            <a:r>
              <a:t>Targeting Eastern European countries (Hungary, Greece) as gateways to EU market</a:t>
            </a:r>
          </a:p>
          <a:p>
            <a:pPr>
              <a:defRPr sz="1600"/>
            </a:pPr>
            <a:r>
              <a:t>Leveraging German/Dutch certification for enhanced brand credibility</a:t>
            </a:r>
          </a:p>
          <a:p>
            <a:pPr>
              <a:defRPr sz="1600"/>
            </a:pPr>
            <a:r>
              <a:t>Focus on high-margin chemiluminescence sector with 20-25% localization rate in China</a:t>
            </a:r>
          </a:p>
          <a:p>
            <a:pPr>
              <a:defRPr sz="1600"/>
            </a:pPr>
            <a:r>
              <a:t>Developing compact POCT solutions for decentralized testing segments</a:t>
            </a:r>
          </a:p>
          <a:p>
            <a:pPr>
              <a:defRPr sz="1600"/>
            </a:pPr>
            <a:r>
              <a:t>Utilizing cost-effectiveness advantage for price-sensitive market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https://en.caclp.com/industry-news/1161.html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EU supply chain localization policies increasing uncertainty for Chinese exporters</a:t>
            </a:r>
          </a:p>
          <a:p>
            <a:pPr>
              <a:defRPr sz="1600"/>
            </a:pPr>
            <a:r>
              <a:t>Complex international regulatory and certification barriers (FDA PMA, EU CE-MDR)</a:t>
            </a:r>
          </a:p>
          <a:p>
            <a:pPr>
              <a:defRPr sz="1600"/>
            </a:pPr>
            <a:r>
              <a:t>Technology and intellectual property risks in developed markets</a:t>
            </a:r>
          </a:p>
          <a:p>
            <a:pPr>
              <a:defRPr sz="1600"/>
            </a:pPr>
            <a:r>
              <a:t>Difficulty in localization and building brand trust in high-end segments</a:t>
            </a:r>
          </a:p>
          <a:p>
            <a:pPr>
              <a:defRPr sz="1600"/>
            </a:pPr>
            <a:r>
              <a:t>Geopolitical tensions affecting market access through IPI restrictions</a:t>
            </a:r>
          </a:p>
          <a:p>
            <a:pPr>
              <a:defRPr sz="1600"/>
            </a:pPr>
            <a:r>
              <a:t>Market fragmentation requiring country-specific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References:</a:t>
            </a:r>
          </a:p>
          <a:p>
            <a:pPr>
              <a:defRPr sz="900" i="1"/>
            </a:pPr>
            <a:r>
              <a:t>[1] https://drive.google.com/file/d/1zt3vNjOlugypsvPkywduyWNRPGTHrsoj/view?usp=drive_link</a:t>
            </a:r>
          </a:p>
          <a:p>
            <a:pPr>
              <a:defRPr sz="9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Establish local European manufacturing and service capabilities through acquisitions</a:t>
            </a:r>
          </a:p>
          <a:p>
            <a:pPr>
              <a:defRPr sz="1600"/>
            </a:pPr>
            <a:r>
              <a:t>Develop country-specific market entry strategies accounting for reimbursement variations</a:t>
            </a:r>
          </a:p>
          <a:p>
            <a:pPr>
              <a:defRPr sz="1600"/>
            </a:pPr>
            <a:r>
              <a:t>Invest in high-level IVDR compliance and environmental regulation (REACH) expertise</a:t>
            </a:r>
          </a:p>
          <a:p>
            <a:pPr>
              <a:defRPr sz="1600"/>
            </a:pPr>
            <a:r>
              <a:t>Build strategic partnerships with European distributors and service providers</a:t>
            </a:r>
          </a:p>
          <a:p>
            <a:pPr>
              <a:defRPr sz="1600"/>
            </a:pPr>
            <a:r>
              <a:t>Focus product development on high-margin segments with competitive advantages</a:t>
            </a:r>
          </a:p>
          <a:p>
            <a:pPr>
              <a:defRPr sz="1600"/>
            </a:pPr>
            <a:r>
              <a:t>Diversify geographic focus to include Eastern European gateway markets</a:t>
            </a:r>
          </a:p>
          <a:p>
            <a:pPr>
              <a:defRPr sz="1600"/>
            </a:pPr>
            <a:r>
              <a:t>Develop strong clinical evidence and KOL relationships to overcome trust deficit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European IVD market presents significant opportunity but requires sophisticated approach</a:t>
            </a:r>
          </a:p>
          <a:p>
            <a:pPr>
              <a:defRPr sz="1600"/>
            </a:pPr>
            <a:r>
              <a:t>Regulatory compliance (IVDR) is foundational but insufficient without localization strategy</a:t>
            </a:r>
          </a:p>
          <a:p>
            <a:pPr>
              <a:defRPr sz="1600"/>
            </a:pPr>
            <a:r>
              <a:t>Geopolitical factors increasingly influencing market access conditions</a:t>
            </a:r>
          </a:p>
          <a:p>
            <a:pPr>
              <a:defRPr sz="1600"/>
            </a:pPr>
            <a:r>
              <a:t>Leading Chinese companies demonstrating capability to compete through acquisitions and innovation</a:t>
            </a:r>
          </a:p>
          <a:p>
            <a:pPr>
              <a:defRPr sz="1600"/>
            </a:pPr>
            <a:r>
              <a:t>Success requires balancing cost-effectiveness with quality perception and local presence</a:t>
            </a:r>
          </a:p>
          <a:p>
            <a:pPr>
              <a:defRPr sz="1600"/>
            </a:pPr>
            <a:r>
              <a:t>Market shifting from export economics to requirement for deep European localization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Frost &amp; Sullivan: 2025 Blue Book on Global Expansion of Chinese Medical Devices</a:t>
            </a:r>
          </a:p>
          <a:p>
            <a:pPr>
              <a:defRPr sz="1400"/>
            </a:pPr>
            <a:r>
              <a:t>European Commission: Restrictions on Chinese participation in medical devices procurement</a:t>
            </a:r>
          </a:p>
          <a:p>
            <a:pPr>
              <a:defRPr sz="1400"/>
            </a:pPr>
            <a:r>
              <a:t>CACLP: Various industry news articles on Chinese IVD company performance</a:t>
            </a:r>
          </a:p>
          <a:p>
            <a:pPr>
              <a:defRPr sz="1400"/>
            </a:pPr>
            <a:r>
              <a:t>Multiple company announcements and regulatory filings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che Evolved Brand">
  <a:themeElements>
    <a:clrScheme name="Custom">
      <a:dk1>
        <a:srgbClr val="0B41CD"/>
      </a:dk1>
      <a:lt1>
        <a:srgbClr val="1482FA"/>
      </a:lt1>
      <a:dk2>
        <a:srgbClr val="BDE3FF"/>
      </a:dk2>
      <a:lt2>
        <a:srgbClr val="FAC9B5"/>
      </a:lt2>
      <a:accent1>
        <a:srgbClr val="ED4A0D"/>
      </a:accent1>
      <a:accent2>
        <a:srgbClr val="BC36F0"/>
      </a:accent2>
      <a:accent3>
        <a:srgbClr val="C40000"/>
      </a:accent3>
      <a:accent4>
        <a:srgbClr val="022366"/>
      </a:accent4>
      <a:accent5>
        <a:srgbClr val="FAD6C7"/>
      </a:accent5>
      <a:accent6>
        <a:srgbClr val="FFE8DE"/>
      </a:accent6>
      <a:hlink>
        <a:srgbClr val="0B41CD"/>
      </a:hlink>
      <a:folHlink>
        <a:srgbClr val="0B41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18</TotalTime>
  <Words>1364</Words>
  <Application>Microsoft Office PowerPoint</Application>
  <PresentationFormat>On-screen Show (4:3)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Roche Sans Condensed Light</vt:lpstr>
      <vt:lpstr>Roche Sans Light</vt:lpstr>
      <vt:lpstr>Roche Sans Medium</vt:lpstr>
      <vt:lpstr>Roche Serif Light</vt:lpstr>
      <vt:lpstr>Roche Evolved Brand</vt:lpstr>
      <vt:lpstr>European IVD Market Analysis: Chinese Supplier Expansion</vt:lpstr>
      <vt:lpstr>Executive Summary</vt:lpstr>
      <vt:lpstr>Agenda</vt:lpstr>
      <vt:lpstr>Market Overview</vt:lpstr>
      <vt:lpstr>Key Trends &amp; Developments</vt:lpstr>
      <vt:lpstr>Competitive Landscape</vt:lpstr>
      <vt:lpstr>Regulatory Landscape</vt:lpstr>
      <vt:lpstr>Access &amp; Reimbursement</vt:lpstr>
      <vt:lpstr>Budget &amp; Spend Analysis</vt:lpstr>
      <vt:lpstr>Customer Receptivity</vt:lpstr>
      <vt:lpstr>Strategic Opportunities</vt:lpstr>
      <vt:lpstr>Risks &amp; Challenges</vt:lpstr>
      <vt:lpstr>Recommendations</vt:lpstr>
      <vt:lpstr>Conclusion</vt:lpstr>
      <vt:lpstr>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Charan A A</cp:lastModifiedBy>
  <cp:revision>2</cp:revision>
  <dcterms:created xsi:type="dcterms:W3CDTF">2013-01-27T09:14:16Z</dcterms:created>
  <dcterms:modified xsi:type="dcterms:W3CDTF">2026-04-16T11:10:03Z</dcterms:modified>
  <cp:category/>
</cp:coreProperties>
</file>